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61" r:id="rId2"/>
    <p:sldId id="266" r:id="rId3"/>
    <p:sldId id="268" r:id="rId4"/>
    <p:sldId id="267" r:id="rId5"/>
    <p:sldId id="269" r:id="rId6"/>
    <p:sldId id="265" r:id="rId7"/>
    <p:sldId id="271" r:id="rId8"/>
    <p:sldId id="270" r:id="rId9"/>
    <p:sldId id="272" r:id="rId10"/>
    <p:sldId id="274" r:id="rId11"/>
    <p:sldId id="273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C515C-64AD-4FF8-8FC2-4B6120AC7D42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9FAA1-E106-4D9A-ADF4-D25BA0BB4BF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326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13/12/2018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251520" y="1371600"/>
            <a:ext cx="8424936" cy="1828800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/>
              <a:t>E</a:t>
            </a:r>
            <a:r>
              <a:rPr lang="pt-BR" sz="5400" b="1" dirty="0" smtClean="0"/>
              <a:t>strutura de Decisão Simples e Composta</a:t>
            </a:r>
            <a:endParaRPr lang="pt-BR" sz="5400" b="1" dirty="0"/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>
          <a:xfrm>
            <a:off x="536640" y="5085184"/>
            <a:ext cx="7854696" cy="936104"/>
          </a:xfrm>
        </p:spPr>
        <p:txBody>
          <a:bodyPr>
            <a:normAutofit/>
          </a:bodyPr>
          <a:lstStyle/>
          <a:p>
            <a:pPr algn="ctr"/>
            <a:r>
              <a:rPr lang="pt-BR" sz="3200" dirty="0"/>
              <a:t>Técnicas de Programação e </a:t>
            </a:r>
            <a:r>
              <a:rPr lang="pt-BR" sz="3200" dirty="0" smtClean="0"/>
              <a:t>Algoritmo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Requisitos para o conteúdo Estrutura de Decisão Simples e Composta:</a:t>
            </a:r>
            <a:endParaRPr lang="pt-B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11560" y="2348880"/>
            <a:ext cx="7427168" cy="2357616"/>
          </a:xfrm>
        </p:spPr>
        <p:txBody>
          <a:bodyPr/>
          <a:lstStyle/>
          <a:p>
            <a:r>
              <a:rPr lang="pt-BR" dirty="0" smtClean="0"/>
              <a:t>Estrutura Linear;</a:t>
            </a:r>
          </a:p>
          <a:p>
            <a:r>
              <a:rPr lang="pt-BR" dirty="0" smtClean="0"/>
              <a:t>Operadores Relacionais;</a:t>
            </a:r>
          </a:p>
          <a:p>
            <a:r>
              <a:rPr lang="pt-BR" dirty="0" smtClean="0"/>
              <a:t>Operadores Lógicos;</a:t>
            </a:r>
          </a:p>
          <a:p>
            <a:r>
              <a:rPr lang="pt-BR" dirty="0" smtClean="0"/>
              <a:t>Tabela Verdade;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739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29600" cy="1143000"/>
          </a:xfrm>
        </p:spPr>
        <p:txBody>
          <a:bodyPr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Operadores Relacionais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412776"/>
            <a:ext cx="8280920" cy="51845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800" dirty="0" smtClean="0"/>
              <a:t>Operadores relacionais estabelecem comparações entre dois valores de mesmo tipo primitivo:</a:t>
            </a:r>
          </a:p>
          <a:p>
            <a:pPr marL="0" indent="0">
              <a:buNone/>
            </a:pPr>
            <a:r>
              <a:rPr lang="pt-BR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=	Igual</a:t>
            </a:r>
          </a:p>
          <a:p>
            <a:pPr marL="0" indent="0">
              <a:buNone/>
            </a:pPr>
            <a:r>
              <a:rPr lang="pt-BR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&gt; 	Maior</a:t>
            </a:r>
          </a:p>
          <a:p>
            <a:pPr marL="0" indent="0">
              <a:buNone/>
            </a:pPr>
            <a:r>
              <a:rPr lang="pt-BR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&lt; 	Menor</a:t>
            </a:r>
          </a:p>
          <a:p>
            <a:pPr marL="0" indent="0">
              <a:buNone/>
            </a:pPr>
            <a:r>
              <a:rPr lang="pt-BR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&lt;&gt; 	Diferente</a:t>
            </a:r>
          </a:p>
          <a:p>
            <a:pPr marL="0" indent="0">
              <a:buNone/>
            </a:pPr>
            <a:r>
              <a:rPr lang="pt-BR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&gt;=	Maior igual </a:t>
            </a:r>
          </a:p>
          <a:p>
            <a:pPr marL="0" indent="0">
              <a:buNone/>
            </a:pPr>
            <a:r>
              <a:rPr lang="pt-BR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&lt;= 	Menor igual</a:t>
            </a:r>
          </a:p>
          <a:p>
            <a:pPr>
              <a:buFont typeface="Symbol"/>
              <a:buChar char="¨"/>
            </a:pPr>
            <a:endParaRPr lang="pt-B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882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02400"/>
            <a:ext cx="8229600" cy="650336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Operadores Lógicos</a:t>
            </a:r>
            <a:endParaRPr lang="pt-BR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34563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smtClean="0"/>
              <a:t>Os operadores lógicos permitem complementar e conectar novas formações de comparações: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	</a:t>
            </a:r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Símbolo			Função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smtClean="0"/>
              <a:t>E				Conjunção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smtClean="0"/>
              <a:t>OU				Disjunção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smtClean="0"/>
              <a:t>NÃO				Negação			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574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866360"/>
          </a:xfrm>
        </p:spPr>
        <p:txBody>
          <a:bodyPr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Tabela Verdade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1296144"/>
          </a:xfrm>
        </p:spPr>
        <p:txBody>
          <a:bodyPr/>
          <a:lstStyle/>
          <a:p>
            <a:pPr marL="0" indent="0" algn="just">
              <a:buNone/>
            </a:pPr>
            <a:r>
              <a:rPr lang="pt-BR" dirty="0" smtClean="0"/>
              <a:t>Tabela verdade é o conjunto de todas as possibilidades combinatórias entre os valores de diversas variáveis lógicas, as quais encontram em apenas duas situações:</a:t>
            </a:r>
          </a:p>
          <a:p>
            <a:pPr marL="0" indent="0" algn="just">
              <a:buNone/>
            </a:pP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417564"/>
              </p:ext>
            </p:extLst>
          </p:nvPr>
        </p:nvGraphicFramePr>
        <p:xfrm>
          <a:off x="1403649" y="3165584"/>
          <a:ext cx="2520279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/>
                <a:gridCol w="720080"/>
                <a:gridCol w="108011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A </a:t>
                      </a:r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 B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</a:p>
                    <a:p>
                      <a:pPr algn="ctr"/>
                      <a:r>
                        <a:rPr lang="pt-BR" dirty="0" smtClean="0"/>
                        <a:t>F</a:t>
                      </a:r>
                    </a:p>
                    <a:p>
                      <a:pPr algn="ctr"/>
                      <a:r>
                        <a:rPr lang="pt-BR" dirty="0" smtClean="0"/>
                        <a:t>V</a:t>
                      </a:r>
                    </a:p>
                    <a:p>
                      <a:pPr algn="ctr"/>
                      <a:r>
                        <a:rPr lang="pt-BR" dirty="0" smtClean="0"/>
                        <a:t>V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</a:p>
                    <a:p>
                      <a:pPr algn="ctr"/>
                      <a:r>
                        <a:rPr lang="pt-BR" dirty="0" smtClean="0"/>
                        <a:t>V</a:t>
                      </a:r>
                    </a:p>
                    <a:p>
                      <a:pPr algn="ctr"/>
                      <a:r>
                        <a:rPr lang="pt-BR" dirty="0" smtClean="0"/>
                        <a:t>F</a:t>
                      </a:r>
                    </a:p>
                    <a:p>
                      <a:pPr algn="ctr"/>
                      <a:r>
                        <a:rPr lang="pt-BR" dirty="0" smtClean="0"/>
                        <a:t>V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  <a:p>
                      <a:pPr algn="ctr"/>
                      <a:r>
                        <a:rPr lang="pt-BR" b="1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  <a:p>
                      <a:pPr algn="ctr"/>
                      <a:r>
                        <a:rPr lang="pt-BR" b="1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  <a:p>
                      <a:pPr algn="ctr"/>
                      <a:r>
                        <a:rPr lang="pt-BR" b="1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endParaRPr lang="pt-BR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853453"/>
              </p:ext>
            </p:extLst>
          </p:nvPr>
        </p:nvGraphicFramePr>
        <p:xfrm>
          <a:off x="5292081" y="3140968"/>
          <a:ext cx="2520279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/>
                <a:gridCol w="720080"/>
                <a:gridCol w="108011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A </a:t>
                      </a:r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OU</a:t>
                      </a:r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 B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</a:p>
                    <a:p>
                      <a:pPr algn="ctr"/>
                      <a:r>
                        <a:rPr lang="pt-BR" dirty="0" smtClean="0"/>
                        <a:t>F</a:t>
                      </a:r>
                    </a:p>
                    <a:p>
                      <a:pPr algn="ctr"/>
                      <a:r>
                        <a:rPr lang="pt-BR" dirty="0" smtClean="0"/>
                        <a:t>V</a:t>
                      </a:r>
                    </a:p>
                    <a:p>
                      <a:pPr algn="ctr"/>
                      <a:r>
                        <a:rPr lang="pt-BR" dirty="0" smtClean="0"/>
                        <a:t>V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</a:p>
                    <a:p>
                      <a:pPr algn="ctr"/>
                      <a:r>
                        <a:rPr lang="pt-BR" dirty="0" smtClean="0"/>
                        <a:t>V</a:t>
                      </a:r>
                    </a:p>
                    <a:p>
                      <a:pPr algn="ctr"/>
                      <a:r>
                        <a:rPr lang="pt-BR" dirty="0" smtClean="0"/>
                        <a:t>F</a:t>
                      </a:r>
                    </a:p>
                    <a:p>
                      <a:pPr algn="ctr"/>
                      <a:r>
                        <a:rPr lang="pt-BR" dirty="0" smtClean="0"/>
                        <a:t>V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  <a:p>
                      <a:pPr algn="ctr"/>
                      <a:r>
                        <a:rPr lang="pt-BR" b="1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  <a:p>
                      <a:pPr algn="ctr"/>
                      <a:r>
                        <a:rPr lang="pt-BR" b="1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  <a:p>
                      <a:pPr algn="ctr"/>
                      <a:r>
                        <a:rPr lang="pt-BR" b="1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endParaRPr lang="pt-BR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089938"/>
              </p:ext>
            </p:extLst>
          </p:nvPr>
        </p:nvGraphicFramePr>
        <p:xfrm>
          <a:off x="3635896" y="5085184"/>
          <a:ext cx="1872208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93610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NÃO</a:t>
                      </a:r>
                      <a:r>
                        <a:rPr lang="pt-BR" dirty="0" smtClean="0">
                          <a:solidFill>
                            <a:schemeClr val="tx1"/>
                          </a:solidFill>
                        </a:rPr>
                        <a:t> A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</a:p>
                    <a:p>
                      <a:pPr algn="ctr"/>
                      <a:r>
                        <a:rPr lang="pt-BR" dirty="0" smtClean="0"/>
                        <a:t>V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</a:t>
                      </a:r>
                    </a:p>
                    <a:p>
                      <a:pPr algn="ctr"/>
                      <a:r>
                        <a:rPr lang="pt-BR" dirty="0" smtClean="0"/>
                        <a:t>F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55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7996" y="1556792"/>
            <a:ext cx="8064896" cy="5112568"/>
          </a:xfrm>
        </p:spPr>
        <p:txBody>
          <a:bodyPr>
            <a:normAutofit fontScale="90000"/>
          </a:bodyPr>
          <a:lstStyle/>
          <a:p>
            <a:r>
              <a:rPr lang="pt-BR" sz="2400" dirty="0">
                <a:solidFill>
                  <a:schemeClr val="tx1"/>
                </a:solidFill>
              </a:rPr>
              <a:t>A</a:t>
            </a:r>
            <a:r>
              <a:rPr lang="pt-BR" sz="2400" dirty="0" smtClean="0">
                <a:solidFill>
                  <a:schemeClr val="tx1"/>
                </a:solidFill>
              </a:rPr>
              <a:t> estrutura de decisão simples testa uma determinada </a:t>
            </a:r>
            <a:r>
              <a:rPr lang="pt-BR" sz="2400" b="1" dirty="0" smtClean="0">
                <a:solidFill>
                  <a:srgbClr val="FF0000"/>
                </a:solidFill>
              </a:rPr>
              <a:t>CONDIÇÃO</a:t>
            </a:r>
            <a:r>
              <a:rPr lang="pt-BR" sz="2400" dirty="0" smtClean="0">
                <a:solidFill>
                  <a:schemeClr val="tx1"/>
                </a:solidFill>
              </a:rPr>
              <a:t> através do comando Se (condição) então. Caso a resposta à condição seja VERDADEIRA, o programa executará a linha de instruções, ou o bloco de instruções da parte verdadeira do comando de decisão, que inicia após o </a:t>
            </a:r>
            <a:r>
              <a:rPr lang="pt-BR" sz="2400" b="1" dirty="0" smtClean="0">
                <a:solidFill>
                  <a:srgbClr val="FF0000"/>
                </a:solidFill>
              </a:rPr>
              <a:t>então</a:t>
            </a:r>
            <a:r>
              <a:rPr lang="pt-BR" sz="2400" dirty="0" smtClean="0">
                <a:solidFill>
                  <a:schemeClr val="tx1"/>
                </a:solidFill>
              </a:rPr>
              <a:t>.</a:t>
            </a:r>
            <a:br>
              <a:rPr lang="pt-BR" sz="2400" dirty="0" smtClean="0">
                <a:solidFill>
                  <a:schemeClr val="tx1"/>
                </a:solidFill>
              </a:rPr>
            </a:br>
            <a:r>
              <a:rPr lang="pt-BR" sz="2400" dirty="0">
                <a:solidFill>
                  <a:schemeClr val="tx1"/>
                </a:solidFill>
              </a:rPr>
              <a:t/>
            </a:r>
            <a:br>
              <a:rPr lang="pt-BR" sz="2400" dirty="0">
                <a:solidFill>
                  <a:schemeClr val="tx1"/>
                </a:solidFill>
              </a:rPr>
            </a:br>
            <a:r>
              <a:rPr lang="pt-BR" sz="2400" dirty="0" smtClean="0">
                <a:solidFill>
                  <a:schemeClr val="tx1"/>
                </a:solidFill>
              </a:rPr>
              <a:t>Sintaxe:</a:t>
            </a:r>
            <a:br>
              <a:rPr lang="pt-BR" sz="2400" dirty="0" smtClean="0">
                <a:solidFill>
                  <a:schemeClr val="tx1"/>
                </a:solidFill>
              </a:rPr>
            </a:br>
            <a:r>
              <a:rPr lang="pt-BR" sz="2400" dirty="0">
                <a:solidFill>
                  <a:schemeClr val="tx1"/>
                </a:solidFill>
              </a:rPr>
              <a:t>	</a:t>
            </a:r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</a:rPr>
              <a:t>Se (condição) então</a:t>
            </a:r>
            <a:br>
              <a:rPr lang="pt-BR" sz="24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</a:rPr>
              <a:t>	      </a:t>
            </a:r>
            <a:r>
              <a:rPr lang="pt-BR" sz="2400" dirty="0" smtClean="0">
                <a:solidFill>
                  <a:schemeClr val="tx1"/>
                </a:solidFill>
              </a:rPr>
              <a:t>comandos para parte verdadeira do se;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pt-BR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pt-BR" sz="2400" dirty="0" err="1" smtClean="0">
                <a:solidFill>
                  <a:schemeClr val="accent1">
                    <a:lumMod val="75000"/>
                  </a:schemeClr>
                </a:solidFill>
              </a:rPr>
              <a:t>Fim_se</a:t>
            </a:r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</a:rPr>
              <a:t>;</a:t>
            </a:r>
            <a:br>
              <a:rPr lang="pt-BR" sz="24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pt-BR" sz="2400" dirty="0">
                <a:solidFill>
                  <a:schemeClr val="tx1"/>
                </a:solidFill>
              </a:rPr>
              <a:t/>
            </a:r>
            <a:br>
              <a:rPr lang="pt-BR" sz="2400" dirty="0">
                <a:solidFill>
                  <a:schemeClr val="tx1"/>
                </a:solidFill>
              </a:rPr>
            </a:br>
            <a:r>
              <a:rPr lang="pt-BR" sz="2400" dirty="0" smtClean="0">
                <a:solidFill>
                  <a:schemeClr val="tx1"/>
                </a:solidFill>
              </a:rPr>
              <a:t>Exemplo:</a:t>
            </a:r>
            <a:br>
              <a:rPr lang="pt-BR" sz="2400" dirty="0" smtClean="0">
                <a:solidFill>
                  <a:schemeClr val="tx1"/>
                </a:solidFill>
              </a:rPr>
            </a:br>
            <a:r>
              <a:rPr lang="pt-BR" sz="2400" dirty="0" smtClean="0">
                <a:solidFill>
                  <a:schemeClr val="tx1"/>
                </a:solidFill>
              </a:rPr>
              <a:t>	</a:t>
            </a:r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</a:rPr>
              <a:t>Se (A&gt;=10) então</a:t>
            </a:r>
            <a:br>
              <a:rPr lang="pt-BR" sz="24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pt-BR" sz="2400" dirty="0" smtClean="0">
                <a:solidFill>
                  <a:schemeClr val="tx1"/>
                </a:solidFill>
              </a:rPr>
              <a:t>	      escreva(“O valor da variável e maior igual a 10”);</a:t>
            </a:r>
            <a:br>
              <a:rPr lang="pt-BR" sz="2400" dirty="0" smtClean="0">
                <a:solidFill>
                  <a:schemeClr val="tx1"/>
                </a:solidFill>
              </a:rPr>
            </a:br>
            <a:r>
              <a:rPr lang="pt-BR" sz="2400" dirty="0">
                <a:solidFill>
                  <a:schemeClr val="tx1"/>
                </a:solidFill>
              </a:rPr>
              <a:t>	</a:t>
            </a:r>
            <a:r>
              <a:rPr lang="pt-BR" sz="2400" dirty="0" err="1" smtClean="0">
                <a:solidFill>
                  <a:schemeClr val="accent1">
                    <a:lumMod val="75000"/>
                  </a:schemeClr>
                </a:solidFill>
              </a:rPr>
              <a:t>Fim_se</a:t>
            </a:r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</a:rPr>
              <a:t>;</a:t>
            </a:r>
            <a:r>
              <a:rPr lang="pt-BR" sz="2400" dirty="0" smtClean="0">
                <a:solidFill>
                  <a:schemeClr val="tx1"/>
                </a:solidFill>
              </a:rPr>
              <a:t/>
            </a:r>
            <a:br>
              <a:rPr lang="pt-BR" sz="2400" dirty="0" smtClean="0">
                <a:solidFill>
                  <a:schemeClr val="tx1"/>
                </a:solidFill>
              </a:rPr>
            </a:br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67544" y="260648"/>
            <a:ext cx="8305800" cy="12961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Estrutura de Decisão Simples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( se ... então  )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722344"/>
          </a:xfrm>
        </p:spPr>
        <p:txBody>
          <a:bodyPr>
            <a:noAutofit/>
          </a:bodyPr>
          <a:lstStyle/>
          <a:p>
            <a:r>
              <a:rPr lang="pt-BR" sz="2400" b="1" u="sng" dirty="0" smtClean="0"/>
              <a:t>Algoritmo</a:t>
            </a:r>
            <a:r>
              <a:rPr lang="pt-BR" sz="2400" dirty="0" smtClean="0"/>
              <a:t>: Crie um programa que receba duas notas de um aluno e verifique se alcançou a média 5 para ser aprovado.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45232" y="1935480"/>
            <a:ext cx="7643192" cy="4389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smtClean="0"/>
              <a:t>Início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real: N1, N2, </a:t>
            </a:r>
            <a:r>
              <a:rPr lang="pt-BR" sz="2000" dirty="0" err="1" smtClean="0"/>
              <a:t>Md</a:t>
            </a:r>
            <a:r>
              <a:rPr lang="pt-BR" sz="2000" dirty="0" smtClean="0"/>
              <a:t>;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escreva(“Digite a primeira nota: ”);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leia(N1);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</a:t>
            </a:r>
            <a:r>
              <a:rPr lang="pt-BR" sz="2000" dirty="0"/>
              <a:t>escreva(“Digite a </a:t>
            </a:r>
            <a:r>
              <a:rPr lang="pt-BR" sz="2000" dirty="0" smtClean="0"/>
              <a:t>segunda nota: ”);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 </a:t>
            </a:r>
            <a:r>
              <a:rPr lang="pt-BR" sz="2000" dirty="0" smtClean="0"/>
              <a:t>leia(N2);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</a:t>
            </a:r>
            <a:r>
              <a:rPr lang="pt-BR" sz="2000" dirty="0" err="1" smtClean="0"/>
              <a:t>Md</a:t>
            </a:r>
            <a:r>
              <a:rPr lang="pt-BR" sz="2000" dirty="0" smtClean="0">
                <a:sym typeface="Wingdings"/>
              </a:rPr>
              <a:t>(N1+N2)/2;</a:t>
            </a:r>
          </a:p>
          <a:p>
            <a:pPr marL="0" indent="0">
              <a:buNone/>
            </a:pPr>
            <a:r>
              <a:rPr lang="pt-BR" sz="2000" dirty="0">
                <a:sym typeface="Wingdings"/>
              </a:rPr>
              <a:t> </a:t>
            </a:r>
            <a:r>
              <a:rPr lang="pt-BR" sz="2000" dirty="0" smtClean="0">
                <a:sym typeface="Wingdings"/>
              </a:rPr>
              <a:t>     Se (</a:t>
            </a:r>
            <a:r>
              <a:rPr lang="pt-BR" sz="2000" dirty="0" err="1" smtClean="0">
                <a:sym typeface="Wingdings"/>
              </a:rPr>
              <a:t>Md</a:t>
            </a:r>
            <a:r>
              <a:rPr lang="pt-BR" sz="2000" dirty="0" smtClean="0">
                <a:sym typeface="Wingdings"/>
              </a:rPr>
              <a:t>&gt;=5) então</a:t>
            </a:r>
          </a:p>
          <a:p>
            <a:pPr marL="0" indent="0">
              <a:buNone/>
            </a:pPr>
            <a:r>
              <a:rPr lang="pt-BR" sz="2000" dirty="0">
                <a:sym typeface="Wingdings"/>
              </a:rPr>
              <a:t>	</a:t>
            </a:r>
            <a:r>
              <a:rPr lang="pt-BR" sz="2000" dirty="0" smtClean="0">
                <a:sym typeface="Wingdings"/>
              </a:rPr>
              <a:t>escreva(“ O aluno alcançou a média para aprovação ”);</a:t>
            </a:r>
          </a:p>
          <a:p>
            <a:pPr marL="0" indent="0">
              <a:buNone/>
            </a:pPr>
            <a:r>
              <a:rPr lang="pt-BR" sz="2000" dirty="0" smtClean="0">
                <a:sym typeface="Wingdings"/>
              </a:rPr>
              <a:t>      </a:t>
            </a:r>
            <a:r>
              <a:rPr lang="pt-BR" sz="2000" dirty="0" err="1" smtClean="0">
                <a:sym typeface="Wingdings"/>
              </a:rPr>
              <a:t>Fim_se</a:t>
            </a:r>
            <a:r>
              <a:rPr lang="pt-BR" sz="2000" dirty="0" smtClean="0">
                <a:sym typeface="Wingdings"/>
              </a:rPr>
              <a:t>;</a:t>
            </a:r>
          </a:p>
          <a:p>
            <a:pPr marL="0" indent="0">
              <a:buNone/>
            </a:pPr>
            <a:r>
              <a:rPr lang="pt-BR" sz="2000" dirty="0" smtClean="0">
                <a:sym typeface="Wingdings"/>
              </a:rPr>
              <a:t>Fim.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 smtClean="0"/>
          </a:p>
          <a:p>
            <a:pPr marL="0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7844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800" dirty="0"/>
              <a:t>A estrutura de decisão </a:t>
            </a:r>
            <a:r>
              <a:rPr lang="pt-BR" sz="2800" dirty="0" smtClean="0"/>
              <a:t>composta </a:t>
            </a:r>
            <a:r>
              <a:rPr lang="pt-BR" sz="2800" dirty="0"/>
              <a:t>testa uma determinada </a:t>
            </a:r>
            <a:r>
              <a:rPr lang="pt-BR" sz="2800" b="1" dirty="0">
                <a:solidFill>
                  <a:srgbClr val="FF0000"/>
                </a:solidFill>
              </a:rPr>
              <a:t>CONDIÇÃO</a:t>
            </a:r>
            <a:r>
              <a:rPr lang="pt-BR" sz="2800" dirty="0"/>
              <a:t> através do comando Se (condição) então. Caso a resposta à condição seja VERDADEIRA, o programa executará a linha de instruções, ou o bloco de instruções da parte verdadeira do comando de decisão. </a:t>
            </a:r>
            <a:endParaRPr lang="pt-BR" sz="2800" dirty="0" smtClean="0"/>
          </a:p>
          <a:p>
            <a:pPr marL="0" indent="0">
              <a:buNone/>
            </a:pPr>
            <a:r>
              <a:rPr lang="pt-BR" sz="2800" dirty="0" smtClean="0"/>
              <a:t>Caso </a:t>
            </a:r>
            <a:r>
              <a:rPr lang="pt-BR" sz="2800" dirty="0"/>
              <a:t>a resposta para a condição seja FALSA, o programa pulará a </a:t>
            </a:r>
            <a:r>
              <a:rPr lang="pt-BR" sz="2800" dirty="0" smtClean="0"/>
              <a:t>parte verdadeira da instrução e executará apenas a linha de instrução </a:t>
            </a:r>
            <a:r>
              <a:rPr lang="pt-BR" sz="2800" dirty="0"/>
              <a:t>ou o bloco de instruções da parte </a:t>
            </a:r>
            <a:r>
              <a:rPr lang="pt-BR" sz="2800" dirty="0" smtClean="0"/>
              <a:t>falsa </a:t>
            </a:r>
            <a:r>
              <a:rPr lang="pt-BR" sz="2800" dirty="0"/>
              <a:t>do comando de </a:t>
            </a:r>
            <a:r>
              <a:rPr lang="pt-BR" sz="2800" dirty="0" smtClean="0"/>
              <a:t>decisão que inicia após o </a:t>
            </a:r>
            <a:r>
              <a:rPr lang="pt-BR" sz="2800" b="1" dirty="0" smtClean="0">
                <a:solidFill>
                  <a:srgbClr val="FF0000"/>
                </a:solidFill>
              </a:rPr>
              <a:t>senão</a:t>
            </a:r>
            <a:r>
              <a:rPr lang="pt-BR" sz="2800" dirty="0" smtClean="0"/>
              <a:t>.</a:t>
            </a:r>
            <a:endParaRPr lang="pt-BR" dirty="0"/>
          </a:p>
        </p:txBody>
      </p:sp>
      <p:sp>
        <p:nvSpPr>
          <p:cNvPr id="5" name="Título 1"/>
          <p:cNvSpPr txBox="1"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Estrutura de Decisão Composta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( Se ... Então... Senão )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987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226400"/>
          </a:xfrm>
        </p:spPr>
        <p:txBody>
          <a:bodyPr>
            <a:noAutofit/>
          </a:bodyPr>
          <a:lstStyle/>
          <a:p>
            <a:r>
              <a:rPr lang="pt-BR" sz="2400" b="1" u="sng" dirty="0" smtClean="0"/>
              <a:t>Algoritmo</a:t>
            </a:r>
            <a:r>
              <a:rPr lang="pt-BR" sz="2400" dirty="0" smtClean="0"/>
              <a:t>: Crie um programa que receba duas notas de um aluno e verifique se alcançou a média 5 para ser aprovado. Caso contrário informe que o aluno foi reprovado.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772816"/>
            <a:ext cx="8280920" cy="43891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000" dirty="0" smtClean="0"/>
              <a:t>Início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real: N1, N2, </a:t>
            </a:r>
            <a:r>
              <a:rPr lang="pt-BR" sz="2000" dirty="0" err="1" smtClean="0"/>
              <a:t>Md</a:t>
            </a:r>
            <a:r>
              <a:rPr lang="pt-BR" sz="2000" dirty="0" smtClean="0"/>
              <a:t>;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escreva(“Digite a primeira nota: ”);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leia(N1);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</a:t>
            </a:r>
            <a:r>
              <a:rPr lang="pt-BR" sz="2000" dirty="0"/>
              <a:t>escreva(“Digite a </a:t>
            </a:r>
            <a:r>
              <a:rPr lang="pt-BR" sz="2000" dirty="0" smtClean="0"/>
              <a:t>segunda nota: ”);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      </a:t>
            </a:r>
            <a:r>
              <a:rPr lang="pt-BR" sz="2000" dirty="0" smtClean="0"/>
              <a:t>leia(N2);</a:t>
            </a:r>
          </a:p>
          <a:p>
            <a:pPr marL="0" indent="0">
              <a:buNone/>
            </a:pPr>
            <a:r>
              <a:rPr lang="pt-BR" sz="2000" dirty="0"/>
              <a:t> </a:t>
            </a:r>
            <a:r>
              <a:rPr lang="pt-BR" sz="2000" dirty="0" smtClean="0"/>
              <a:t>     </a:t>
            </a:r>
            <a:r>
              <a:rPr lang="pt-BR" sz="2000" dirty="0" err="1" smtClean="0"/>
              <a:t>Md</a:t>
            </a:r>
            <a:r>
              <a:rPr lang="pt-BR" sz="2000" dirty="0" smtClean="0">
                <a:sym typeface="Wingdings"/>
              </a:rPr>
              <a:t>(N1+N2)/2;</a:t>
            </a:r>
          </a:p>
          <a:p>
            <a:pPr marL="0" indent="0">
              <a:buNone/>
            </a:pPr>
            <a:r>
              <a:rPr lang="pt-BR" sz="2000" dirty="0">
                <a:sym typeface="Wingdings"/>
              </a:rPr>
              <a:t> </a:t>
            </a:r>
            <a:r>
              <a:rPr lang="pt-BR" sz="2000" dirty="0" smtClean="0">
                <a:sym typeface="Wingdings"/>
              </a:rPr>
              <a:t>     Se (</a:t>
            </a:r>
            <a:r>
              <a:rPr lang="pt-BR" sz="2000" dirty="0" err="1" smtClean="0">
                <a:sym typeface="Wingdings"/>
              </a:rPr>
              <a:t>Md</a:t>
            </a:r>
            <a:r>
              <a:rPr lang="pt-BR" sz="2000" dirty="0" smtClean="0">
                <a:sym typeface="Wingdings"/>
              </a:rPr>
              <a:t>&gt;=5) então</a:t>
            </a:r>
          </a:p>
          <a:p>
            <a:pPr marL="0" indent="0">
              <a:buNone/>
            </a:pPr>
            <a:r>
              <a:rPr lang="pt-BR" sz="2000" dirty="0">
                <a:sym typeface="Wingdings"/>
              </a:rPr>
              <a:t>	</a:t>
            </a:r>
            <a:r>
              <a:rPr lang="pt-BR" sz="2000" dirty="0" smtClean="0">
                <a:sym typeface="Wingdings"/>
              </a:rPr>
              <a:t>escreva(“ O aluno alcançou a média para aprovação ”);</a:t>
            </a:r>
          </a:p>
          <a:p>
            <a:pPr marL="0" indent="0">
              <a:buNone/>
            </a:pPr>
            <a:r>
              <a:rPr lang="pt-BR" sz="2000" dirty="0" smtClean="0">
                <a:sym typeface="Wingdings"/>
              </a:rPr>
              <a:t>      Senão</a:t>
            </a:r>
          </a:p>
          <a:p>
            <a:pPr marL="0" indent="0">
              <a:buNone/>
            </a:pPr>
            <a:r>
              <a:rPr lang="pt-BR" sz="2000" dirty="0" smtClean="0">
                <a:sym typeface="Wingdings"/>
              </a:rPr>
              <a:t>	escreva(“ O aluno não alcançou a média, portanto foi reprovado”);</a:t>
            </a:r>
          </a:p>
          <a:p>
            <a:pPr marL="0" indent="0">
              <a:buNone/>
            </a:pPr>
            <a:r>
              <a:rPr lang="pt-BR" sz="2000" dirty="0" smtClean="0">
                <a:sym typeface="Wingdings"/>
              </a:rPr>
              <a:t>      </a:t>
            </a:r>
            <a:r>
              <a:rPr lang="pt-BR" sz="2000" dirty="0" err="1" smtClean="0">
                <a:sym typeface="Wingdings"/>
              </a:rPr>
              <a:t>Fim_se</a:t>
            </a:r>
            <a:r>
              <a:rPr lang="pt-BR" sz="2000" dirty="0" smtClean="0">
                <a:sym typeface="Wingdings"/>
              </a:rPr>
              <a:t>;</a:t>
            </a:r>
          </a:p>
          <a:p>
            <a:pPr marL="0" indent="0">
              <a:buNone/>
            </a:pPr>
            <a:r>
              <a:rPr lang="pt-BR" sz="2000" dirty="0" smtClean="0">
                <a:sym typeface="Wingdings"/>
              </a:rPr>
              <a:t>Fim.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 smtClean="0"/>
          </a:p>
          <a:p>
            <a:pPr marL="0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7844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2344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Exercícios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302433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pt-BR" u="sng" dirty="0" smtClean="0"/>
              <a:t>Identifique com V para resultado Verdadeiro e F para resultado Falso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Sejam A e B variáveis lógicas, X e Y variáveis reais e R, S e T variáveis caracteres, com respectivos valores: </a:t>
            </a:r>
          </a:p>
          <a:p>
            <a:pPr marL="0" indent="0">
              <a:buNone/>
            </a:pPr>
            <a:r>
              <a:rPr lang="pt-BR" dirty="0" smtClean="0"/>
              <a:t>	A &lt;- V		</a:t>
            </a:r>
            <a:r>
              <a:rPr lang="pt-BR" dirty="0"/>
              <a:t>Y &lt;- </a:t>
            </a:r>
            <a:r>
              <a:rPr lang="pt-BR" dirty="0" smtClean="0"/>
              <a:t>5,0	</a:t>
            </a:r>
            <a:r>
              <a:rPr lang="pt-BR" dirty="0"/>
              <a:t>R &lt;- “Jose”</a:t>
            </a:r>
          </a:p>
          <a:p>
            <a:pPr marL="0" indent="0">
              <a:buNone/>
            </a:pPr>
            <a:r>
              <a:rPr lang="pt-BR" dirty="0" smtClean="0"/>
              <a:t>	B </a:t>
            </a:r>
            <a:r>
              <a:rPr lang="pt-BR" dirty="0"/>
              <a:t>&lt;- F		X &lt;- </a:t>
            </a:r>
            <a:r>
              <a:rPr lang="pt-BR" dirty="0" smtClean="0"/>
              <a:t>2,5	</a:t>
            </a:r>
            <a:r>
              <a:rPr lang="pt-BR" dirty="0"/>
              <a:t>S &lt;- “João”</a:t>
            </a:r>
          </a:p>
          <a:p>
            <a:pPr marL="0" indent="0">
              <a:buNone/>
            </a:pPr>
            <a:r>
              <a:rPr lang="pt-BR" dirty="0" smtClean="0"/>
              <a:t>					</a:t>
            </a:r>
            <a:r>
              <a:rPr lang="pt-BR" dirty="0"/>
              <a:t>T &lt;- “Maria</a:t>
            </a:r>
            <a:r>
              <a:rPr lang="pt-BR" dirty="0" smtClean="0"/>
              <a:t>”</a:t>
            </a:r>
          </a:p>
          <a:p>
            <a:pPr marL="514350" indent="-514350">
              <a:buFont typeface="+mj-lt"/>
              <a:buAutoNum type="alphaLcParenR"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</p:txBody>
      </p:sp>
      <p:sp>
        <p:nvSpPr>
          <p:cNvPr id="4" name="CaixaDeTexto 3"/>
          <p:cNvSpPr txBox="1"/>
          <p:nvPr/>
        </p:nvSpPr>
        <p:spPr>
          <a:xfrm>
            <a:off x="961336" y="4359587"/>
            <a:ext cx="3610664" cy="230832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 ou B</a:t>
            </a:r>
          </a:p>
          <a:p>
            <a:pPr marL="514350" indent="-514350">
              <a:buFont typeface="+mj-lt"/>
              <a:buAutoNum type="alphaLcParenR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 e B</a:t>
            </a:r>
          </a:p>
          <a:p>
            <a:pPr marL="514350" indent="-514350">
              <a:buFont typeface="+mj-lt"/>
              <a:buAutoNum type="alphaLcParenR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Não A</a:t>
            </a:r>
          </a:p>
          <a:p>
            <a:pPr marL="514350" indent="-514350">
              <a:buFont typeface="+mj-lt"/>
              <a:buAutoNum type="alphaLcParenR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X =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Y</a:t>
            </a:r>
          </a:p>
          <a:p>
            <a:pPr marL="514350" indent="-514350">
              <a:buFont typeface="+mj-lt"/>
              <a:buAutoNum type="alphaLcParenR"/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X=(Y/2)</a:t>
            </a:r>
          </a:p>
          <a:p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716016" y="4221088"/>
            <a:ext cx="427937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lphaLcParenR" startAt="6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R=S</a:t>
            </a:r>
          </a:p>
          <a:p>
            <a:pPr marL="514350" indent="-514350">
              <a:buFont typeface="+mj-lt"/>
              <a:buAutoNum type="alphaLcParenR" startAt="6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S=T</a:t>
            </a:r>
          </a:p>
          <a:p>
            <a:pPr marL="514350" indent="-514350">
              <a:buFont typeface="+mj-lt"/>
              <a:buAutoNum type="alphaLcParenR" startAt="6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R&lt;&gt;S</a:t>
            </a:r>
          </a:p>
          <a:p>
            <a:pPr marL="514350" indent="-514350">
              <a:buFont typeface="+mj-lt"/>
              <a:buAutoNum type="alphaLcParenR" startAt="6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R&gt;S</a:t>
            </a:r>
          </a:p>
          <a:p>
            <a:pPr marL="514350" indent="-514350">
              <a:buFont typeface="+mj-lt"/>
              <a:buAutoNum type="alphaLcParenR" startAt="6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S&gt;T</a:t>
            </a:r>
          </a:p>
          <a:p>
            <a:pPr marL="514350" indent="-514350">
              <a:buFont typeface="+mj-lt"/>
              <a:buAutoNum type="alphaLcParenR" startAt="6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((A ou B)ou(X=Y)ou(S=T))</a:t>
            </a:r>
          </a:p>
          <a:p>
            <a:endParaRPr lang="pt-B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229600" cy="722344"/>
          </a:xfrm>
        </p:spPr>
        <p:txBody>
          <a:bodyPr>
            <a:normAutofit fontScale="90000"/>
          </a:bodyPr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Exercícios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760640"/>
          </a:xfrm>
        </p:spPr>
        <p:txBody>
          <a:bodyPr>
            <a:normAutofit/>
          </a:bodyPr>
          <a:lstStyle/>
          <a:p>
            <a:pPr marL="514350" lvl="0" indent="-514350">
              <a:buNone/>
            </a:pPr>
            <a:r>
              <a:rPr lang="pt-BR" sz="2000" b="1" u="sng" dirty="0" smtClean="0">
                <a:latin typeface="Arial" pitchFamily="34" charset="0"/>
                <a:cs typeface="Arial" pitchFamily="34" charset="0"/>
              </a:rPr>
              <a:t>Algoritmos</a:t>
            </a:r>
          </a:p>
          <a:p>
            <a:pPr marL="514350" lvl="0" indent="-514350">
              <a:buFont typeface="+mj-lt"/>
              <a:buAutoNum type="arabicPeriod"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Tendo como dados de entrada a altura e o sexo de uma pessoa, construa um algoritmo que calcule seu peso ideal, utilizando as seguintes formulas: </a:t>
            </a:r>
          </a:p>
          <a:p>
            <a:pPr lvl="1"/>
            <a:r>
              <a:rPr lang="pt-BR" sz="1800" dirty="0" smtClean="0">
                <a:latin typeface="Arial" pitchFamily="34" charset="0"/>
                <a:cs typeface="Arial" pitchFamily="34" charset="0"/>
              </a:rPr>
              <a:t>HOMEM=(72.7*ALT)-58;</a:t>
            </a:r>
          </a:p>
          <a:p>
            <a:pPr lvl="1"/>
            <a:r>
              <a:rPr lang="pt-BR" sz="1800" dirty="0" smtClean="0">
                <a:latin typeface="Arial" pitchFamily="34" charset="0"/>
                <a:cs typeface="Arial" pitchFamily="34" charset="0"/>
              </a:rPr>
              <a:t>MULHER=(62.1*ALT)-44.7.</a:t>
            </a:r>
          </a:p>
          <a:p>
            <a:pPr marL="514350" lvl="0" indent="-514350">
              <a:buFont typeface="+mj-lt"/>
              <a:buAutoNum type="arabicPeriod"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Crie um algoritmo que calcule a multa paga por um pescador que ultrapassar a quantidade de quilos estabelecida por lei. A saber: </a:t>
            </a:r>
          </a:p>
          <a:p>
            <a:pPr lvl="1"/>
            <a:r>
              <a:rPr lang="pt-BR" sz="1800" dirty="0" smtClean="0">
                <a:latin typeface="Arial" pitchFamily="34" charset="0"/>
                <a:cs typeface="Arial" pitchFamily="34" charset="0"/>
              </a:rPr>
              <a:t>A quantidade de peixe por pessoa é 50 kg.</a:t>
            </a:r>
          </a:p>
          <a:p>
            <a:pPr lvl="1"/>
            <a:r>
              <a:rPr lang="pt-BR" sz="1800" dirty="0" smtClean="0">
                <a:latin typeface="Arial" pitchFamily="34" charset="0"/>
                <a:cs typeface="Arial" pitchFamily="34" charset="0"/>
              </a:rPr>
              <a:t>A multa por quilo excedente é R</a:t>
            </a:r>
            <a:r>
              <a:rPr lang="pt-BR" sz="1800" dirty="0" smtClean="0">
                <a:latin typeface="Arial" pitchFamily="34" charset="0"/>
                <a:cs typeface="Arial" pitchFamily="34" charset="0"/>
              </a:rPr>
              <a:t>$ 4,00</a:t>
            </a:r>
            <a:r>
              <a:rPr lang="pt-BR" sz="1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Crie um algoritmo que receba uma senha e verifique sua validade ou não. Senha válida 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pt-BR" sz="2000" smtClean="0">
                <a:latin typeface="Arial" pitchFamily="34" charset="0"/>
                <a:cs typeface="Arial" pitchFamily="34" charset="0"/>
              </a:rPr>
              <a:t>abcd”.</a:t>
            </a: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Crie um algoritmo que receba o ano de nascimento de uma pessoa. Calcule e mostre se atingiu a maioridade ou não.</a:t>
            </a: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270</TotalTime>
  <Words>606</Words>
  <Application>Microsoft Office PowerPoint</Application>
  <PresentationFormat>Apresentação na tela (4:3)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Constantia</vt:lpstr>
      <vt:lpstr>Symbol</vt:lpstr>
      <vt:lpstr>Wingdings</vt:lpstr>
      <vt:lpstr>Wingdings 2</vt:lpstr>
      <vt:lpstr>Fluxo</vt:lpstr>
      <vt:lpstr>Estrutura de Decisão Simples e Composta</vt:lpstr>
      <vt:lpstr>Requisitos para o conteúdo Estrutura de Decisão Simples e Composta:</vt:lpstr>
      <vt:lpstr>Operadores Relacionais</vt:lpstr>
      <vt:lpstr>Operadores Lógicos</vt:lpstr>
      <vt:lpstr>Tabela Verdade</vt:lpstr>
      <vt:lpstr>A estrutura de decisão simples testa uma determinada CONDIÇÃO através do comando Se (condição) então. Caso a resposta à condição seja VERDADEIRA, o programa executará a linha de instruções, ou o bloco de instruções da parte verdadeira do comando de decisão, que inicia após o então.  Sintaxe:  Se (condição) então        comandos para parte verdadeira do se;  Fim_se;  Exemplo:  Se (A&gt;=10) então        escreva(“O valor da variável e maior igual a 10”);  Fim_se; </vt:lpstr>
      <vt:lpstr>Algoritmo: Crie um programa que receba duas notas de um aluno e verifique se alcançou a média 5 para ser aprovado.</vt:lpstr>
      <vt:lpstr>Estrutura de Decisão Composta  ( Se ... Então... Senão )</vt:lpstr>
      <vt:lpstr>Algoritmo: Crie um programa que receba duas notas de um aluno e verifique se alcançou a média 5 para ser aprovado. Caso contrário informe que o aluno foi reprovado.</vt:lpstr>
      <vt:lpstr>Exercícios</vt:lpstr>
      <vt:lpstr>Exercícios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Desvio Condicional Simples testa uma determinada condição através do comando SE e dos operadores relacionais. Caso a resposta à condição seja VERDADEIRA, o programa sairá pelo (ENTÃO), executando a linha de instruções, ou bloco de instruções, que vem logo a seguir (ao ENTÃO). Caso a resposta para a condição seja FALSA, o programa pulará a linha de instruções, ou bloco de instruções, que pertencem ao ENTÃO e continuará sua execução após os mesmos.</dc:title>
  <dc:creator>sergio</dc:creator>
  <cp:lastModifiedBy>Aluno</cp:lastModifiedBy>
  <cp:revision>33</cp:revision>
  <dcterms:created xsi:type="dcterms:W3CDTF">2012-03-29T13:28:25Z</dcterms:created>
  <dcterms:modified xsi:type="dcterms:W3CDTF">2018-12-13T11:16:04Z</dcterms:modified>
</cp:coreProperties>
</file>