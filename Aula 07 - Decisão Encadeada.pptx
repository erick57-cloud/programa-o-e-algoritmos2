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5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F9D6AF0-6D37-4255-BF7A-F971C5ECDA27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36ED348-3171-4FA3-BC98-42311C8DEFAF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2844" y="764704"/>
            <a:ext cx="8241116" cy="1470025"/>
          </a:xfrm>
        </p:spPr>
        <p:txBody>
          <a:bodyPr>
            <a:normAutofit/>
          </a:bodyPr>
          <a:lstStyle/>
          <a:p>
            <a:r>
              <a:rPr lang="pt-B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de Decisão </a:t>
            </a:r>
            <a:r>
              <a:rPr lang="pt-B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Encadeada</a:t>
            </a:r>
            <a:endParaRPr lang="pt-BR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95536" y="2636912"/>
            <a:ext cx="6400800" cy="1752600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Homogênea</a:t>
            </a:r>
          </a:p>
          <a:p>
            <a:pPr algn="ctr"/>
            <a:r>
              <a:rPr lang="pt-BR" dirty="0" smtClean="0">
                <a:solidFill>
                  <a:schemeClr val="bg1"/>
                </a:solidFill>
              </a:rPr>
              <a:t>Heterogênea</a:t>
            </a:r>
          </a:p>
          <a:p>
            <a:pPr algn="ctr"/>
            <a:r>
              <a:rPr lang="pt-BR" dirty="0" smtClean="0">
                <a:solidFill>
                  <a:schemeClr val="bg1"/>
                </a:solidFill>
              </a:rPr>
              <a:t>Múltipla-escolha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1331640" y="5805264"/>
            <a:ext cx="6400800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ubtítulo 1"/>
          <p:cNvSpPr txBox="1">
            <a:spLocks/>
          </p:cNvSpPr>
          <p:nvPr/>
        </p:nvSpPr>
        <p:spPr>
          <a:xfrm>
            <a:off x="755576" y="5130655"/>
            <a:ext cx="7854696" cy="962641"/>
          </a:xfrm>
          <a:prstGeom prst="rect">
            <a:avLst/>
          </a:prstGeom>
        </p:spPr>
        <p:txBody>
          <a:bodyPr vert="horz" lIns="0" rIns="18288">
            <a:normAutofit/>
          </a:bodyPr>
          <a:lstStyle>
            <a:lvl1pPr marL="0" marR="45720" indent="0" algn="r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200" dirty="0" smtClean="0"/>
              <a:t>Técnicas de Programação e Algoritmo</a:t>
            </a:r>
            <a:endParaRPr lang="pt-BR" sz="32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de Decisão Encadeada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85720" y="1600200"/>
            <a:ext cx="8229600" cy="4525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pt-BR" dirty="0" smtClean="0"/>
              <a:t>    	Existem casos em que é necessário estabelecer algumas verificações lógicas de condições definidas sucessivamente. </a:t>
            </a:r>
          </a:p>
          <a:p>
            <a:pPr algn="just">
              <a:buNone/>
            </a:pPr>
            <a:r>
              <a:rPr lang="pt-BR" dirty="0" smtClean="0"/>
              <a:t>		A partir do momento em que uma determinada ação é executada, ela pode também levar a outras condições, de forma que não haja limites. </a:t>
            </a:r>
          </a:p>
          <a:p>
            <a:pPr algn="just">
              <a:buNone/>
            </a:pPr>
            <a:r>
              <a:rPr lang="pt-BR" dirty="0" smtClean="0"/>
              <a:t>		Dessa forma existe a possibilidade de usar uma condição dentro de outra condição, o que leva a uma estrutura de decisão encadeada ou aninhada.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7158" y="-24"/>
            <a:ext cx="8229600" cy="928710"/>
          </a:xfrm>
        </p:spPr>
        <p:txBody>
          <a:bodyPr>
            <a:normAutofit fontScale="90000"/>
          </a:bodyPr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Decisão Encadeada Homogênea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1000108"/>
            <a:ext cx="822960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2400" dirty="0" smtClean="0"/>
              <a:t>	</a:t>
            </a:r>
            <a:r>
              <a:rPr lang="pt-BR" sz="2400" b="1" dirty="0" smtClean="0"/>
              <a:t>Exemplo 1 – </a:t>
            </a:r>
            <a:r>
              <a:rPr lang="pt-BR" sz="2400" b="1" dirty="0" smtClean="0">
                <a:solidFill>
                  <a:schemeClr val="accent6">
                    <a:lumMod val="75000"/>
                  </a:schemeClr>
                </a:solidFill>
              </a:rPr>
              <a:t>Se ... Então ... Se </a:t>
            </a:r>
            <a:r>
              <a:rPr lang="pt-BR" sz="2400" b="1" dirty="0" smtClean="0"/>
              <a:t>:</a:t>
            </a:r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r>
              <a:rPr lang="pt-BR" sz="2400" dirty="0" smtClean="0"/>
              <a:t>	      Se </a:t>
            </a:r>
            <a:r>
              <a:rPr lang="pt-BR" sz="2400" dirty="0" smtClean="0">
                <a:solidFill>
                  <a:srgbClr val="FF0000"/>
                </a:solidFill>
              </a:rPr>
              <a:t>(condição1) </a:t>
            </a:r>
            <a:r>
              <a:rPr lang="pt-BR" sz="2400" dirty="0" smtClean="0"/>
              <a:t>então</a:t>
            </a:r>
          </a:p>
          <a:p>
            <a:pPr>
              <a:buNone/>
            </a:pPr>
            <a:r>
              <a:rPr lang="pt-BR" sz="2400" dirty="0" smtClean="0"/>
              <a:t>                 Se </a:t>
            </a:r>
            <a:r>
              <a:rPr lang="pt-BR" sz="2400" dirty="0" smtClean="0">
                <a:solidFill>
                  <a:srgbClr val="FF0000"/>
                </a:solidFill>
              </a:rPr>
              <a:t>(condição2) </a:t>
            </a:r>
            <a:r>
              <a:rPr lang="pt-BR" sz="2400" dirty="0" smtClean="0"/>
              <a:t>então</a:t>
            </a:r>
          </a:p>
          <a:p>
            <a:pPr>
              <a:buNone/>
            </a:pPr>
            <a:r>
              <a:rPr lang="pt-BR" sz="2400" dirty="0"/>
              <a:t>	</a:t>
            </a:r>
            <a:r>
              <a:rPr lang="pt-BR" sz="2400" dirty="0" smtClean="0"/>
              <a:t>	            Se </a:t>
            </a:r>
            <a:r>
              <a:rPr lang="pt-BR" sz="2400" dirty="0" smtClean="0">
                <a:solidFill>
                  <a:srgbClr val="FF0000"/>
                </a:solidFill>
              </a:rPr>
              <a:t>(condição3) </a:t>
            </a:r>
            <a:r>
              <a:rPr lang="pt-BR" sz="2400" dirty="0" smtClean="0"/>
              <a:t>então</a:t>
            </a:r>
          </a:p>
          <a:p>
            <a:pPr>
              <a:buNone/>
            </a:pPr>
            <a:r>
              <a:rPr lang="pt-BR" sz="2400" dirty="0" smtClean="0"/>
              <a:t>                               Se </a:t>
            </a:r>
            <a:r>
              <a:rPr lang="pt-BR" sz="2400" dirty="0" smtClean="0">
                <a:solidFill>
                  <a:srgbClr val="FF0000"/>
                </a:solidFill>
              </a:rPr>
              <a:t>(condição4) </a:t>
            </a:r>
            <a:r>
              <a:rPr lang="pt-BR" sz="2400" dirty="0" smtClean="0"/>
              <a:t>então</a:t>
            </a:r>
          </a:p>
          <a:p>
            <a:pPr>
              <a:buNone/>
            </a:pPr>
            <a:r>
              <a:rPr lang="pt-BR" sz="2400" dirty="0" smtClean="0"/>
              <a:t> 			               </a:t>
            </a:r>
            <a:r>
              <a:rPr lang="pt-BR" sz="2400" dirty="0" smtClean="0">
                <a:solidFill>
                  <a:srgbClr val="0070C0"/>
                </a:solidFill>
              </a:rPr>
              <a:t>comando1;</a:t>
            </a:r>
          </a:p>
          <a:p>
            <a:pPr>
              <a:buNone/>
            </a:pPr>
            <a:r>
              <a:rPr lang="pt-BR" sz="2400" dirty="0" smtClean="0"/>
              <a:t>                               </a:t>
            </a:r>
            <a:r>
              <a:rPr lang="pt-BR" sz="2400" dirty="0" err="1" smtClean="0"/>
              <a:t>Fim_se</a:t>
            </a:r>
            <a:r>
              <a:rPr lang="pt-BR" sz="2400" dirty="0" smtClean="0"/>
              <a:t>;</a:t>
            </a:r>
          </a:p>
          <a:p>
            <a:pPr>
              <a:buNone/>
            </a:pPr>
            <a:r>
              <a:rPr lang="pt-BR" sz="2400" dirty="0" smtClean="0"/>
              <a:t>		            </a:t>
            </a:r>
            <a:r>
              <a:rPr lang="pt-BR" sz="2400" dirty="0" err="1" smtClean="0"/>
              <a:t>Fim_se</a:t>
            </a:r>
            <a:r>
              <a:rPr lang="pt-BR" sz="2400" dirty="0" smtClean="0"/>
              <a:t>;</a:t>
            </a:r>
          </a:p>
          <a:p>
            <a:pPr>
              <a:buNone/>
            </a:pPr>
            <a:r>
              <a:rPr lang="pt-BR" sz="2400" dirty="0" smtClean="0"/>
              <a:t>		    </a:t>
            </a:r>
            <a:r>
              <a:rPr lang="pt-BR" sz="2400" dirty="0" err="1" smtClean="0"/>
              <a:t>Fim_se</a:t>
            </a:r>
            <a:r>
              <a:rPr lang="pt-BR" sz="2400" dirty="0" smtClean="0"/>
              <a:t>;</a:t>
            </a:r>
          </a:p>
          <a:p>
            <a:pPr>
              <a:buNone/>
            </a:pPr>
            <a:r>
              <a:rPr lang="pt-BR" sz="2400" dirty="0" smtClean="0"/>
              <a:t>	      </a:t>
            </a:r>
            <a:r>
              <a:rPr lang="pt-BR" sz="2400" dirty="0" err="1" smtClean="0"/>
              <a:t>Fim_se</a:t>
            </a:r>
            <a:r>
              <a:rPr lang="pt-BR" sz="2400" dirty="0" smtClean="0"/>
              <a:t>;                     </a:t>
            </a:r>
          </a:p>
          <a:p>
            <a:pPr>
              <a:buNone/>
            </a:pPr>
            <a:r>
              <a:rPr lang="pt-BR" sz="2400" dirty="0"/>
              <a:t>	</a:t>
            </a:r>
            <a:r>
              <a:rPr lang="pt-BR" sz="2400" dirty="0" smtClean="0"/>
              <a:t>		 </a:t>
            </a:r>
            <a:endParaRPr lang="pt-BR" sz="2400" dirty="0"/>
          </a:p>
        </p:txBody>
      </p:sp>
      <p:cxnSp>
        <p:nvCxnSpPr>
          <p:cNvPr id="5" name="Conector reto 4"/>
          <p:cNvCxnSpPr/>
          <p:nvPr/>
        </p:nvCxnSpPr>
        <p:spPr>
          <a:xfrm rot="5400000">
            <a:off x="2678099" y="3872631"/>
            <a:ext cx="500066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/>
          <p:cNvCxnSpPr/>
          <p:nvPr/>
        </p:nvCxnSpPr>
        <p:spPr>
          <a:xfrm rot="5400000">
            <a:off x="1601338" y="3827894"/>
            <a:ext cx="151216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 rot="5400000">
            <a:off x="590981" y="3856834"/>
            <a:ext cx="2428892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 rot="16200000" flipH="1">
            <a:off x="-405820" y="3847667"/>
            <a:ext cx="3429024" cy="1992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14314"/>
            <a:ext cx="9144000" cy="571480"/>
          </a:xfrm>
        </p:spPr>
        <p:txBody>
          <a:bodyPr>
            <a:noAutofit/>
          </a:bodyPr>
          <a:lstStyle/>
          <a:p>
            <a:pPr algn="ctr"/>
            <a:r>
              <a:rPr lang="pt-BR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Decisão Encadeada Homogênea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66793" y="1114063"/>
            <a:ext cx="6840760" cy="62373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1800" dirty="0" smtClean="0"/>
              <a:t>	</a:t>
            </a:r>
            <a:r>
              <a:rPr lang="pt-BR" sz="1800" b="1" dirty="0" smtClean="0"/>
              <a:t>Exemplo 2 – </a:t>
            </a:r>
            <a:r>
              <a:rPr lang="pt-BR" sz="1800" b="1" dirty="0" smtClean="0">
                <a:solidFill>
                  <a:schemeClr val="accent6">
                    <a:lumMod val="75000"/>
                  </a:schemeClr>
                </a:solidFill>
              </a:rPr>
              <a:t>Se ... Senão ... Se </a:t>
            </a:r>
            <a:r>
              <a:rPr lang="pt-BR" sz="1800" b="1" dirty="0" smtClean="0"/>
              <a:t>:</a:t>
            </a:r>
            <a:endParaRPr lang="pt-BR" sz="1800" dirty="0" smtClean="0"/>
          </a:p>
          <a:p>
            <a:pPr>
              <a:buNone/>
            </a:pPr>
            <a:r>
              <a:rPr lang="pt-BR" sz="1800" dirty="0" smtClean="0"/>
              <a:t>		Se </a:t>
            </a:r>
            <a:r>
              <a:rPr lang="pt-BR" sz="1800" dirty="0" smtClean="0">
                <a:solidFill>
                  <a:srgbClr val="FF0000"/>
                </a:solidFill>
              </a:rPr>
              <a:t>(condição1) </a:t>
            </a:r>
            <a:r>
              <a:rPr lang="pt-BR" sz="1800" dirty="0" smtClean="0"/>
              <a:t>então</a:t>
            </a:r>
          </a:p>
          <a:p>
            <a:pPr>
              <a:buNone/>
            </a:pPr>
            <a:r>
              <a:rPr lang="pt-BR" sz="1800" dirty="0" smtClean="0"/>
              <a:t>		</a:t>
            </a:r>
            <a:r>
              <a:rPr lang="pt-BR" sz="1800" dirty="0" smtClean="0">
                <a:solidFill>
                  <a:srgbClr val="0070C0"/>
                </a:solidFill>
              </a:rPr>
              <a:t>        comando1;</a:t>
            </a:r>
          </a:p>
          <a:p>
            <a:pPr>
              <a:buNone/>
            </a:pPr>
            <a:r>
              <a:rPr lang="pt-BR" sz="1800" dirty="0">
                <a:solidFill>
                  <a:srgbClr val="0070C0"/>
                </a:solidFill>
              </a:rPr>
              <a:t>	</a:t>
            </a:r>
            <a:r>
              <a:rPr lang="pt-BR" sz="1800" dirty="0" smtClean="0">
                <a:solidFill>
                  <a:srgbClr val="0070C0"/>
                </a:solidFill>
              </a:rPr>
              <a:t>	</a:t>
            </a:r>
            <a:r>
              <a:rPr lang="pt-BR" sz="1800" dirty="0" smtClean="0"/>
              <a:t>Senão</a:t>
            </a:r>
          </a:p>
          <a:p>
            <a:pPr>
              <a:buNone/>
            </a:pPr>
            <a:r>
              <a:rPr lang="pt-BR" sz="1800" dirty="0" smtClean="0"/>
              <a:t>                         Se </a:t>
            </a:r>
            <a:r>
              <a:rPr lang="pt-BR" sz="1800" dirty="0" smtClean="0">
                <a:solidFill>
                  <a:srgbClr val="FF0000"/>
                </a:solidFill>
              </a:rPr>
              <a:t>(condição2) </a:t>
            </a:r>
            <a:r>
              <a:rPr lang="pt-BR" sz="1800" dirty="0" smtClean="0"/>
              <a:t>então</a:t>
            </a:r>
          </a:p>
          <a:p>
            <a:pPr>
              <a:buNone/>
            </a:pPr>
            <a:r>
              <a:rPr lang="pt-BR" sz="1800" dirty="0" smtClean="0">
                <a:solidFill>
                  <a:srgbClr val="0070C0"/>
                </a:solidFill>
              </a:rPr>
              <a:t>                                  comando2;</a:t>
            </a:r>
          </a:p>
          <a:p>
            <a:pPr>
              <a:buNone/>
            </a:pPr>
            <a:r>
              <a:rPr lang="pt-BR" sz="1800" dirty="0" smtClean="0">
                <a:solidFill>
                  <a:srgbClr val="0070C0"/>
                </a:solidFill>
              </a:rPr>
              <a:t>		         </a:t>
            </a:r>
            <a:r>
              <a:rPr lang="pt-BR" sz="1800" dirty="0" smtClean="0"/>
              <a:t>Senão</a:t>
            </a:r>
          </a:p>
          <a:p>
            <a:pPr>
              <a:buNone/>
            </a:pPr>
            <a:r>
              <a:rPr lang="pt-BR" sz="1800" dirty="0" smtClean="0"/>
              <a:t>                                  Se </a:t>
            </a:r>
            <a:r>
              <a:rPr lang="pt-BR" sz="1800" dirty="0" smtClean="0">
                <a:solidFill>
                  <a:srgbClr val="FF0000"/>
                </a:solidFill>
              </a:rPr>
              <a:t>(condição3) </a:t>
            </a:r>
            <a:r>
              <a:rPr lang="pt-BR" sz="1800" dirty="0" smtClean="0"/>
              <a:t>então</a:t>
            </a:r>
          </a:p>
          <a:p>
            <a:pPr>
              <a:buNone/>
            </a:pPr>
            <a:r>
              <a:rPr lang="pt-BR" sz="1800" dirty="0" smtClean="0">
                <a:solidFill>
                  <a:srgbClr val="0070C0"/>
                </a:solidFill>
              </a:rPr>
              <a:t>                                           comando3;</a:t>
            </a:r>
          </a:p>
          <a:p>
            <a:pPr>
              <a:buNone/>
            </a:pPr>
            <a:r>
              <a:rPr lang="pt-BR" sz="1800" dirty="0" smtClean="0">
                <a:solidFill>
                  <a:srgbClr val="0070C0"/>
                </a:solidFill>
              </a:rPr>
              <a:t>		                  </a:t>
            </a:r>
            <a:r>
              <a:rPr lang="pt-BR" sz="1800" dirty="0" smtClean="0"/>
              <a:t>Senão</a:t>
            </a:r>
          </a:p>
          <a:p>
            <a:pPr>
              <a:buNone/>
            </a:pPr>
            <a:r>
              <a:rPr lang="pt-BR" sz="1800" dirty="0" smtClean="0"/>
              <a:t>                                           Se </a:t>
            </a:r>
            <a:r>
              <a:rPr lang="pt-BR" sz="1800" dirty="0" smtClean="0">
                <a:solidFill>
                  <a:srgbClr val="FF0000"/>
                </a:solidFill>
              </a:rPr>
              <a:t>(condição4) </a:t>
            </a:r>
            <a:r>
              <a:rPr lang="pt-BR" sz="1800" dirty="0" smtClean="0"/>
              <a:t>então</a:t>
            </a:r>
          </a:p>
          <a:p>
            <a:pPr>
              <a:buNone/>
            </a:pPr>
            <a:r>
              <a:rPr lang="pt-BR" sz="1800" dirty="0" smtClean="0"/>
              <a:t>		</a:t>
            </a:r>
            <a:r>
              <a:rPr lang="pt-BR" sz="1800" dirty="0"/>
              <a:t>	</a:t>
            </a:r>
            <a:r>
              <a:rPr lang="pt-BR" sz="1800" dirty="0" smtClean="0"/>
              <a:t>                </a:t>
            </a:r>
            <a:r>
              <a:rPr lang="pt-BR" sz="1800" dirty="0" smtClean="0">
                <a:solidFill>
                  <a:srgbClr val="0070C0"/>
                </a:solidFill>
              </a:rPr>
              <a:t>comando4;</a:t>
            </a:r>
          </a:p>
          <a:p>
            <a:pPr>
              <a:buNone/>
            </a:pPr>
            <a:r>
              <a:rPr lang="pt-BR" sz="1800" dirty="0"/>
              <a:t> </a:t>
            </a:r>
            <a:r>
              <a:rPr lang="pt-BR" sz="1800" dirty="0" smtClean="0"/>
              <a:t>                                          </a:t>
            </a:r>
            <a:r>
              <a:rPr lang="pt-BR" sz="1800" dirty="0" err="1" smtClean="0"/>
              <a:t>Fim_se</a:t>
            </a:r>
            <a:r>
              <a:rPr lang="pt-BR" sz="1800" dirty="0" smtClean="0"/>
              <a:t>;</a:t>
            </a:r>
          </a:p>
          <a:p>
            <a:pPr>
              <a:buNone/>
            </a:pPr>
            <a:r>
              <a:rPr lang="pt-BR" sz="1800" dirty="0"/>
              <a:t>	</a:t>
            </a:r>
            <a:r>
              <a:rPr lang="pt-BR" sz="1800" dirty="0" smtClean="0"/>
              <a:t>	                  </a:t>
            </a:r>
            <a:r>
              <a:rPr lang="pt-BR" sz="1800" dirty="0" err="1" smtClean="0"/>
              <a:t>Fim_se</a:t>
            </a:r>
            <a:r>
              <a:rPr lang="pt-BR" sz="1800" dirty="0" smtClean="0"/>
              <a:t>;</a:t>
            </a:r>
          </a:p>
          <a:p>
            <a:pPr>
              <a:buNone/>
            </a:pPr>
            <a:r>
              <a:rPr lang="pt-BR" sz="1800" dirty="0" smtClean="0"/>
              <a:t>	                    </a:t>
            </a:r>
            <a:r>
              <a:rPr lang="pt-BR" sz="1800" dirty="0" err="1" smtClean="0"/>
              <a:t>Fim_se</a:t>
            </a:r>
            <a:r>
              <a:rPr lang="pt-BR" sz="1800" dirty="0" smtClean="0"/>
              <a:t>;</a:t>
            </a:r>
          </a:p>
          <a:p>
            <a:pPr>
              <a:buNone/>
            </a:pPr>
            <a:r>
              <a:rPr lang="pt-BR" sz="1800" dirty="0" smtClean="0"/>
              <a:t>                </a:t>
            </a:r>
            <a:r>
              <a:rPr lang="pt-BR" sz="1800" dirty="0" err="1" smtClean="0"/>
              <a:t>Fim_se</a:t>
            </a:r>
            <a:r>
              <a:rPr lang="pt-BR" sz="1800" dirty="0" smtClean="0"/>
              <a:t>;</a:t>
            </a:r>
            <a:endParaRPr lang="pt-BR" sz="1800" dirty="0"/>
          </a:p>
        </p:txBody>
      </p:sp>
      <p:grpSp>
        <p:nvGrpSpPr>
          <p:cNvPr id="9" name="Grupo 8"/>
          <p:cNvGrpSpPr/>
          <p:nvPr/>
        </p:nvGrpSpPr>
        <p:grpSpPr>
          <a:xfrm>
            <a:off x="1912294" y="1750711"/>
            <a:ext cx="1558757" cy="4500594"/>
            <a:chOff x="1513045" y="1428736"/>
            <a:chExt cx="1558757" cy="4500594"/>
          </a:xfrm>
        </p:grpSpPr>
        <p:cxnSp>
          <p:nvCxnSpPr>
            <p:cNvPr id="6" name="Conector reto 5"/>
            <p:cNvCxnSpPr/>
            <p:nvPr/>
          </p:nvCxnSpPr>
          <p:spPr>
            <a:xfrm rot="5400000">
              <a:off x="1615634" y="4359344"/>
              <a:ext cx="1860687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/>
            <p:cNvCxnSpPr/>
            <p:nvPr/>
          </p:nvCxnSpPr>
          <p:spPr>
            <a:xfrm rot="5400000">
              <a:off x="345990" y="3977664"/>
              <a:ext cx="3357586" cy="158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/>
            <p:cNvCxnSpPr/>
            <p:nvPr/>
          </p:nvCxnSpPr>
          <p:spPr>
            <a:xfrm rot="5400000">
              <a:off x="-732080" y="3673861"/>
              <a:ext cx="4500594" cy="1034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/>
            <p:cNvCxnSpPr/>
            <p:nvPr/>
          </p:nvCxnSpPr>
          <p:spPr>
            <a:xfrm rot="5400000">
              <a:off x="2785256" y="4701211"/>
              <a:ext cx="571504" cy="158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2844" y="0"/>
            <a:ext cx="9001156" cy="714356"/>
          </a:xfrm>
        </p:spPr>
        <p:txBody>
          <a:bodyPr>
            <a:normAutofit fontScale="90000"/>
          </a:bodyPr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Decisão Encadeada Heterogênea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2976" y="785794"/>
            <a:ext cx="6429400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1800" dirty="0" smtClean="0"/>
              <a:t>Se </a:t>
            </a:r>
            <a:r>
              <a:rPr lang="pt-BR" sz="1800" dirty="0" smtClean="0">
                <a:solidFill>
                  <a:srgbClr val="FF0000"/>
                </a:solidFill>
              </a:rPr>
              <a:t>(condição1) </a:t>
            </a:r>
            <a:r>
              <a:rPr lang="pt-BR" sz="1800" dirty="0" smtClean="0"/>
              <a:t>então</a:t>
            </a:r>
          </a:p>
          <a:p>
            <a:pPr>
              <a:buNone/>
            </a:pPr>
            <a:r>
              <a:rPr lang="pt-BR" sz="1800" dirty="0" smtClean="0"/>
              <a:t>         Se </a:t>
            </a:r>
            <a:r>
              <a:rPr lang="pt-BR" sz="1800" dirty="0" smtClean="0">
                <a:solidFill>
                  <a:srgbClr val="FF0000"/>
                </a:solidFill>
              </a:rPr>
              <a:t>(condição2) </a:t>
            </a:r>
            <a:r>
              <a:rPr lang="pt-BR" sz="1800" dirty="0" smtClean="0"/>
              <a:t>então</a:t>
            </a:r>
          </a:p>
          <a:p>
            <a:pPr>
              <a:buNone/>
            </a:pPr>
            <a:r>
              <a:rPr lang="pt-BR" sz="1800" dirty="0" smtClean="0">
                <a:solidFill>
                  <a:srgbClr val="0070C0"/>
                </a:solidFill>
              </a:rPr>
              <a:t>                   comando1;</a:t>
            </a:r>
          </a:p>
          <a:p>
            <a:pPr>
              <a:buNone/>
            </a:pPr>
            <a:r>
              <a:rPr lang="pt-BR" sz="1800" dirty="0"/>
              <a:t> </a:t>
            </a:r>
            <a:r>
              <a:rPr lang="pt-BR" sz="1800" dirty="0" smtClean="0"/>
              <a:t>         </a:t>
            </a:r>
            <a:r>
              <a:rPr lang="pt-BR" sz="1800" dirty="0" err="1" smtClean="0"/>
              <a:t>Fim_se</a:t>
            </a:r>
            <a:r>
              <a:rPr lang="pt-BR" sz="1800" dirty="0" smtClean="0"/>
              <a:t>;         </a:t>
            </a:r>
          </a:p>
          <a:p>
            <a:pPr>
              <a:buNone/>
            </a:pPr>
            <a:r>
              <a:rPr lang="pt-BR" sz="1800" dirty="0" smtClean="0"/>
              <a:t>Senão	</a:t>
            </a:r>
          </a:p>
          <a:p>
            <a:pPr>
              <a:buNone/>
            </a:pPr>
            <a:r>
              <a:rPr lang="pt-BR" sz="1800" dirty="0" smtClean="0"/>
              <a:t>          Se </a:t>
            </a:r>
            <a:r>
              <a:rPr lang="pt-BR" sz="1800" dirty="0" smtClean="0">
                <a:solidFill>
                  <a:srgbClr val="FF0000"/>
                </a:solidFill>
              </a:rPr>
              <a:t>(condição3) </a:t>
            </a:r>
            <a:r>
              <a:rPr lang="pt-BR" sz="1800" dirty="0" smtClean="0"/>
              <a:t>então</a:t>
            </a:r>
          </a:p>
          <a:p>
            <a:pPr>
              <a:buNone/>
            </a:pPr>
            <a:r>
              <a:rPr lang="pt-BR" sz="1800" dirty="0" smtClean="0">
                <a:solidFill>
                  <a:srgbClr val="0070C0"/>
                </a:solidFill>
              </a:rPr>
              <a:t>                        comando2;</a:t>
            </a:r>
          </a:p>
          <a:p>
            <a:pPr>
              <a:buNone/>
            </a:pPr>
            <a:r>
              <a:rPr lang="pt-BR" sz="1800" dirty="0" smtClean="0">
                <a:solidFill>
                  <a:srgbClr val="0070C0"/>
                </a:solidFill>
              </a:rPr>
              <a:t>	     </a:t>
            </a:r>
            <a:r>
              <a:rPr lang="pt-BR" sz="1800" dirty="0" smtClean="0"/>
              <a:t>Senão</a:t>
            </a:r>
          </a:p>
          <a:p>
            <a:pPr>
              <a:buNone/>
            </a:pPr>
            <a:r>
              <a:rPr lang="pt-BR" sz="1800" dirty="0" smtClean="0"/>
              <a:t> 		        Se </a:t>
            </a:r>
            <a:r>
              <a:rPr lang="pt-BR" sz="1800" dirty="0" smtClean="0">
                <a:solidFill>
                  <a:srgbClr val="FF0000"/>
                </a:solidFill>
              </a:rPr>
              <a:t>(condição4) </a:t>
            </a:r>
            <a:r>
              <a:rPr lang="pt-BR" sz="1800" dirty="0" smtClean="0"/>
              <a:t>então</a:t>
            </a:r>
          </a:p>
          <a:p>
            <a:pPr>
              <a:buNone/>
            </a:pPr>
            <a:r>
              <a:rPr lang="pt-BR" sz="1800" dirty="0" smtClean="0"/>
              <a:t>                                    Se </a:t>
            </a:r>
            <a:r>
              <a:rPr lang="pt-BR" sz="1800" dirty="0" smtClean="0">
                <a:solidFill>
                  <a:srgbClr val="FF0000"/>
                </a:solidFill>
              </a:rPr>
              <a:t>(condição5) </a:t>
            </a:r>
            <a:r>
              <a:rPr lang="pt-BR" sz="1800" dirty="0" smtClean="0"/>
              <a:t>então</a:t>
            </a:r>
          </a:p>
          <a:p>
            <a:pPr>
              <a:buNone/>
            </a:pPr>
            <a:r>
              <a:rPr lang="pt-BR" sz="1800" dirty="0" smtClean="0">
                <a:solidFill>
                  <a:srgbClr val="0070C0"/>
                </a:solidFill>
              </a:rPr>
              <a:t>                                           comando3;</a:t>
            </a:r>
          </a:p>
          <a:p>
            <a:pPr>
              <a:buNone/>
            </a:pPr>
            <a:r>
              <a:rPr lang="pt-BR" sz="1800" dirty="0">
                <a:solidFill>
                  <a:srgbClr val="0070C0"/>
                </a:solidFill>
              </a:rPr>
              <a:t> </a:t>
            </a:r>
            <a:r>
              <a:rPr lang="pt-BR" sz="1800" dirty="0" smtClean="0">
                <a:solidFill>
                  <a:srgbClr val="0070C0"/>
                </a:solidFill>
              </a:rPr>
              <a:t>                                </a:t>
            </a:r>
            <a:r>
              <a:rPr lang="pt-BR" sz="1800" dirty="0" smtClean="0"/>
              <a:t>   Senão</a:t>
            </a:r>
          </a:p>
          <a:p>
            <a:pPr>
              <a:buNone/>
            </a:pPr>
            <a:r>
              <a:rPr lang="pt-BR" sz="1800" dirty="0" smtClean="0"/>
              <a:t>                                           </a:t>
            </a:r>
            <a:r>
              <a:rPr lang="pt-BR" sz="1800" dirty="0" smtClean="0">
                <a:solidFill>
                  <a:srgbClr val="0070C0"/>
                </a:solidFill>
              </a:rPr>
              <a:t>comando4;</a:t>
            </a:r>
            <a:endParaRPr lang="pt-BR" sz="1800" dirty="0" smtClean="0"/>
          </a:p>
          <a:p>
            <a:pPr>
              <a:buNone/>
            </a:pPr>
            <a:r>
              <a:rPr lang="pt-BR" sz="1800" dirty="0" smtClean="0"/>
              <a:t> 			    </a:t>
            </a:r>
            <a:r>
              <a:rPr lang="pt-BR" sz="1800" dirty="0" err="1" smtClean="0"/>
              <a:t>Fim_se</a:t>
            </a:r>
            <a:r>
              <a:rPr lang="pt-BR" sz="1800" dirty="0" smtClean="0"/>
              <a:t>;</a:t>
            </a:r>
          </a:p>
          <a:p>
            <a:pPr>
              <a:buNone/>
            </a:pPr>
            <a:r>
              <a:rPr lang="pt-BR" sz="1800" dirty="0" smtClean="0"/>
              <a:t>		        </a:t>
            </a:r>
            <a:r>
              <a:rPr lang="pt-BR" sz="1800" dirty="0" err="1" smtClean="0"/>
              <a:t>Fim_se</a:t>
            </a:r>
            <a:r>
              <a:rPr lang="pt-BR" sz="1800" dirty="0" smtClean="0"/>
              <a:t>; </a:t>
            </a:r>
          </a:p>
          <a:p>
            <a:pPr>
              <a:buNone/>
            </a:pPr>
            <a:r>
              <a:rPr lang="pt-BR" sz="1800" dirty="0" smtClean="0"/>
              <a:t>	     </a:t>
            </a:r>
            <a:r>
              <a:rPr lang="pt-BR" sz="1800" dirty="0" err="1" smtClean="0"/>
              <a:t>Fim_se</a:t>
            </a:r>
            <a:r>
              <a:rPr lang="pt-BR" sz="1800" dirty="0" smtClean="0"/>
              <a:t>; </a:t>
            </a:r>
          </a:p>
          <a:p>
            <a:pPr>
              <a:buNone/>
            </a:pPr>
            <a:r>
              <a:rPr lang="pt-BR" sz="1800" dirty="0" err="1" smtClean="0"/>
              <a:t>Fim_se</a:t>
            </a:r>
            <a:r>
              <a:rPr lang="pt-BR" sz="1800" dirty="0" smtClean="0"/>
              <a:t>;</a:t>
            </a:r>
            <a:endParaRPr lang="pt-BR" sz="1800" dirty="0"/>
          </a:p>
        </p:txBody>
      </p:sp>
      <p:grpSp>
        <p:nvGrpSpPr>
          <p:cNvPr id="11" name="Grupo 10"/>
          <p:cNvGrpSpPr/>
          <p:nvPr/>
        </p:nvGrpSpPr>
        <p:grpSpPr>
          <a:xfrm>
            <a:off x="1285832" y="1000108"/>
            <a:ext cx="2071722" cy="5214976"/>
            <a:chOff x="500034" y="357166"/>
            <a:chExt cx="1857390" cy="5214976"/>
          </a:xfrm>
        </p:grpSpPr>
        <p:cxnSp>
          <p:nvCxnSpPr>
            <p:cNvPr id="4" name="Conector reto 3"/>
            <p:cNvCxnSpPr/>
            <p:nvPr/>
          </p:nvCxnSpPr>
          <p:spPr>
            <a:xfrm rot="5400000">
              <a:off x="-2107452" y="2964652"/>
              <a:ext cx="5214976" cy="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/>
            <p:cNvCxnSpPr/>
            <p:nvPr/>
          </p:nvCxnSpPr>
          <p:spPr>
            <a:xfrm rot="5400000">
              <a:off x="-607255" y="3607595"/>
              <a:ext cx="3214710" cy="158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>
            <a:xfrm rot="5400000">
              <a:off x="711738" y="4041751"/>
              <a:ext cx="2082759" cy="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rot="16200000" flipH="1">
              <a:off x="1785916" y="4000500"/>
              <a:ext cx="1143012" cy="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Autofit/>
          </a:bodyPr>
          <a:lstStyle/>
          <a:p>
            <a:r>
              <a:rPr lang="pt-B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Decisão Encadeada Múltipla-escolha</a:t>
            </a:r>
            <a:endParaRPr lang="pt-B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b="1" dirty="0" smtClean="0"/>
              <a:t>Exemplo:</a:t>
            </a:r>
          </a:p>
          <a:p>
            <a:pPr lvl="1">
              <a:buNone/>
            </a:pPr>
            <a:r>
              <a:rPr lang="pt-BR" dirty="0" smtClean="0"/>
              <a:t>Escolha(</a:t>
            </a:r>
            <a:r>
              <a:rPr lang="pt-BR" dirty="0" smtClean="0">
                <a:solidFill>
                  <a:srgbClr val="FF0000"/>
                </a:solidFill>
              </a:rPr>
              <a:t>variável</a:t>
            </a:r>
            <a:r>
              <a:rPr lang="pt-BR" dirty="0" smtClean="0"/>
              <a:t>) </a:t>
            </a:r>
          </a:p>
          <a:p>
            <a:pPr lvl="1">
              <a:buNone/>
            </a:pPr>
            <a:r>
              <a:rPr lang="pt-BR" dirty="0"/>
              <a:t> </a:t>
            </a:r>
            <a:r>
              <a:rPr lang="pt-BR" dirty="0" smtClean="0"/>
              <a:t>              caso </a:t>
            </a:r>
            <a:r>
              <a:rPr lang="pt-BR" dirty="0" smtClean="0">
                <a:solidFill>
                  <a:schemeClr val="accent6">
                    <a:lumMod val="75000"/>
                  </a:schemeClr>
                </a:solidFill>
              </a:rPr>
              <a:t>valor 1 </a:t>
            </a:r>
            <a:r>
              <a:rPr lang="pt-BR" dirty="0" smtClean="0"/>
              <a:t>: </a:t>
            </a:r>
            <a:r>
              <a:rPr lang="pt-BR" dirty="0" smtClean="0">
                <a:solidFill>
                  <a:srgbClr val="00B0F0"/>
                </a:solidFill>
              </a:rPr>
              <a:t>comando 1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 		         caso </a:t>
            </a:r>
            <a:r>
              <a:rPr lang="pt-BR" dirty="0" smtClean="0">
                <a:solidFill>
                  <a:schemeClr val="accent6">
                    <a:lumMod val="75000"/>
                  </a:schemeClr>
                </a:solidFill>
              </a:rPr>
              <a:t>valor 2 </a:t>
            </a:r>
            <a:r>
              <a:rPr lang="pt-BR" dirty="0" smtClean="0"/>
              <a:t>: </a:t>
            </a:r>
            <a:r>
              <a:rPr lang="pt-BR" dirty="0" smtClean="0">
                <a:solidFill>
                  <a:srgbClr val="00B0F0"/>
                </a:solidFill>
              </a:rPr>
              <a:t>comando 2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 		         caso </a:t>
            </a:r>
            <a:r>
              <a:rPr lang="pt-BR" dirty="0" smtClean="0">
                <a:solidFill>
                  <a:schemeClr val="accent6">
                    <a:lumMod val="75000"/>
                  </a:schemeClr>
                </a:solidFill>
              </a:rPr>
              <a:t>valor 3 </a:t>
            </a:r>
            <a:r>
              <a:rPr lang="pt-BR" dirty="0" smtClean="0"/>
              <a:t>: </a:t>
            </a:r>
            <a:r>
              <a:rPr lang="pt-BR" dirty="0" smtClean="0">
                <a:solidFill>
                  <a:srgbClr val="00B0F0"/>
                </a:solidFill>
              </a:rPr>
              <a:t>comando 3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Senão</a:t>
            </a:r>
          </a:p>
          <a:p>
            <a:pPr lvl="1">
              <a:buNone/>
            </a:pPr>
            <a:r>
              <a:rPr lang="pt-BR" dirty="0" smtClean="0"/>
              <a:t>                </a:t>
            </a:r>
            <a:r>
              <a:rPr lang="pt-BR" dirty="0" smtClean="0">
                <a:solidFill>
                  <a:srgbClr val="00B0F0"/>
                </a:solidFill>
              </a:rPr>
              <a:t>comando 4</a:t>
            </a:r>
            <a:r>
              <a:rPr lang="pt-BR" dirty="0" smtClean="0"/>
              <a:t>; </a:t>
            </a:r>
          </a:p>
          <a:p>
            <a:pPr lvl="1">
              <a:buNone/>
            </a:pPr>
            <a:r>
              <a:rPr lang="pt-BR" dirty="0" err="1" smtClean="0"/>
              <a:t>Fim_escolha</a:t>
            </a:r>
            <a:r>
              <a:rPr lang="pt-BR" dirty="0" smtClean="0"/>
              <a:t>;</a:t>
            </a:r>
            <a:endParaRPr lang="pt-BR" dirty="0"/>
          </a:p>
        </p:txBody>
      </p:sp>
      <p:cxnSp>
        <p:nvCxnSpPr>
          <p:cNvPr id="4" name="Conector reto 3"/>
          <p:cNvCxnSpPr/>
          <p:nvPr/>
        </p:nvCxnSpPr>
        <p:spPr>
          <a:xfrm rot="5400000">
            <a:off x="-499361" y="3963857"/>
            <a:ext cx="322995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	Criar um programa que receba 3 valores: A, B e C, apresente-os em ordem crescente:</a:t>
            </a:r>
          </a:p>
          <a:p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1907704" y="3429000"/>
          <a:ext cx="360040" cy="1256535"/>
        </p:xfrm>
        <a:graphic>
          <a:graphicData uri="http://schemas.openxmlformats.org/drawingml/2006/table">
            <a:tbl>
              <a:tblPr firstRow="1" bandRow="1"/>
              <a:tblGrid>
                <a:gridCol w="360040"/>
              </a:tblGrid>
              <a:tr h="418845"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/>
                </a:tc>
              </a:tr>
              <a:tr h="418845"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</a:tr>
              <a:tr h="418845"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6300192" y="3356992"/>
          <a:ext cx="360040" cy="1256535"/>
        </p:xfrm>
        <a:graphic>
          <a:graphicData uri="http://schemas.openxmlformats.org/drawingml/2006/table">
            <a:tbl>
              <a:tblPr firstRow="1" bandRow="1"/>
              <a:tblGrid>
                <a:gridCol w="360040"/>
              </a:tblGrid>
              <a:tr h="418845"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/>
                </a:tc>
              </a:tr>
              <a:tr h="418845"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pt-BR" dirty="0"/>
                    </a:p>
                  </a:txBody>
                  <a:tcPr/>
                </a:tc>
              </a:tr>
              <a:tr h="418845"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onector de seta reta 6"/>
          <p:cNvCxnSpPr/>
          <p:nvPr/>
        </p:nvCxnSpPr>
        <p:spPr>
          <a:xfrm>
            <a:off x="2339752" y="3645024"/>
            <a:ext cx="3816424" cy="288032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2339752" y="3645024"/>
            <a:ext cx="3816424" cy="7920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 flipV="1">
            <a:off x="2339752" y="3573016"/>
            <a:ext cx="3816424" cy="504056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2339752" y="4077072"/>
            <a:ext cx="3816424" cy="432048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V="1">
            <a:off x="2339752" y="3645024"/>
            <a:ext cx="3816424" cy="7920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 flipV="1">
            <a:off x="2339752" y="4005064"/>
            <a:ext cx="3816424" cy="4320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4282" y="214290"/>
            <a:ext cx="3714776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000" dirty="0" smtClean="0"/>
              <a:t>Início</a:t>
            </a:r>
          </a:p>
          <a:p>
            <a:pPr>
              <a:buNone/>
            </a:pPr>
            <a:r>
              <a:rPr lang="pt-BR" sz="2000" dirty="0" smtClean="0"/>
              <a:t>    inteiro: A, B, C;</a:t>
            </a:r>
          </a:p>
          <a:p>
            <a:pPr>
              <a:buNone/>
            </a:pPr>
            <a:r>
              <a:rPr lang="pt-BR" sz="2000" dirty="0" smtClean="0"/>
              <a:t>    escreva(“Digite o 1º valor”); leia(A);</a:t>
            </a:r>
          </a:p>
          <a:p>
            <a:pPr>
              <a:buNone/>
            </a:pPr>
            <a:r>
              <a:rPr lang="pt-BR" sz="2000" dirty="0" smtClean="0"/>
              <a:t>    escreva(“Digite o 2º valor”); leia(B);</a:t>
            </a:r>
          </a:p>
          <a:p>
            <a:pPr>
              <a:buNone/>
            </a:pPr>
            <a:r>
              <a:rPr lang="pt-BR" sz="2000" dirty="0" smtClean="0"/>
              <a:t>    escreva(“Digite o 3º valor”); leia(C);</a:t>
            </a:r>
          </a:p>
          <a:p>
            <a:pPr>
              <a:buNone/>
            </a:pPr>
            <a:endParaRPr lang="pt-BR" sz="2000" dirty="0" smtClean="0"/>
          </a:p>
          <a:p>
            <a:pPr>
              <a:buNone/>
            </a:pPr>
            <a:endParaRPr lang="pt-BR" sz="2000" dirty="0" smtClean="0"/>
          </a:p>
          <a:p>
            <a:pPr>
              <a:buNone/>
            </a:pPr>
            <a:endParaRPr lang="pt-BR" sz="2000" dirty="0" smtClean="0"/>
          </a:p>
          <a:p>
            <a:pPr>
              <a:buNone/>
            </a:pPr>
            <a:endParaRPr lang="pt-BR" sz="2000" dirty="0" smtClean="0"/>
          </a:p>
          <a:p>
            <a:pPr>
              <a:buNone/>
            </a:pPr>
            <a:endParaRPr lang="pt-BR" sz="2000" dirty="0" smtClean="0"/>
          </a:p>
          <a:p>
            <a:pPr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4429124" y="142852"/>
            <a:ext cx="4500594" cy="664371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 (A&lt;B) e (A&lt;C)então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Se(B&lt;C) então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escreva(A ,” - ”, B ,” - ”, C);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Senão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escreva(A ,” - ”, C ,” - ”, B);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pt-BR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Fim_se</a:t>
            </a: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Senão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Se(B&lt;A) e (B&lt;C) então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Se(A&lt;C) então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escreva(B ,” - ”, A ,” - ”, C);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Senão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escreva(B ,” - ”, C ,” - ”, A);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pt-BR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Fim_se</a:t>
            </a: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Senão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Se(A&lt;B) então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escreva(C ,” - ”, A ,” - ”, B);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Senão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escreva(C ,” - ”, B ,” - ”, A);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pt-BR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Fim_se</a:t>
            </a: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pt-BR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Fim_se</a:t>
            </a: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pt-BR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Fim_se</a:t>
            </a: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Fim.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6" name="Conector reto 5"/>
          <p:cNvCxnSpPr/>
          <p:nvPr/>
        </p:nvCxnSpPr>
        <p:spPr>
          <a:xfrm rot="5400000">
            <a:off x="571496" y="3429000"/>
            <a:ext cx="6858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28596" y="-71462"/>
            <a:ext cx="8229600" cy="654032"/>
          </a:xfrm>
        </p:spPr>
        <p:txBody>
          <a:bodyPr>
            <a:normAutofit/>
          </a:bodyPr>
          <a:lstStyle/>
          <a:p>
            <a:r>
              <a:rPr lang="pt-B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Exercícios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214346" y="857256"/>
            <a:ext cx="8858248" cy="5857892"/>
          </a:xfrm>
        </p:spPr>
        <p:txBody>
          <a:bodyPr>
            <a:normAutofit fontScale="70000" lnSpcReduction="20000"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pt-BR" dirty="0" smtClean="0"/>
              <a:t>Receba a hora de início do turno de trabalho e exiba na tela se é turno manhã, tarde ou noite. Considere:</a:t>
            </a:r>
          </a:p>
          <a:p>
            <a:pPr lvl="1" algn="just"/>
            <a:r>
              <a:rPr lang="pt-BR" dirty="0" smtClean="0"/>
              <a:t>Manhã – 5hs às 12,59</a:t>
            </a:r>
            <a:r>
              <a:rPr lang="pt-BR" dirty="0" err="1" smtClean="0"/>
              <a:t>hs</a:t>
            </a:r>
            <a:r>
              <a:rPr lang="pt-BR" dirty="0" smtClean="0"/>
              <a:t>;</a:t>
            </a:r>
          </a:p>
          <a:p>
            <a:pPr lvl="1" algn="just"/>
            <a:r>
              <a:rPr lang="pt-BR" dirty="0" smtClean="0"/>
              <a:t>Tarde – 13hs às 20,59</a:t>
            </a:r>
            <a:r>
              <a:rPr lang="pt-BR" dirty="0" err="1" smtClean="0"/>
              <a:t>hs</a:t>
            </a:r>
            <a:r>
              <a:rPr lang="pt-BR" dirty="0" smtClean="0"/>
              <a:t>;</a:t>
            </a:r>
          </a:p>
          <a:p>
            <a:pPr lvl="1" algn="just"/>
            <a:r>
              <a:rPr lang="pt-BR" dirty="0" smtClean="0"/>
              <a:t>Noite – 21 </a:t>
            </a:r>
            <a:r>
              <a:rPr lang="pt-BR" dirty="0" err="1" smtClean="0"/>
              <a:t>hs</a:t>
            </a:r>
            <a:r>
              <a:rPr lang="pt-BR" dirty="0" smtClean="0"/>
              <a:t> às 4,59 </a:t>
            </a:r>
            <a:r>
              <a:rPr lang="pt-BR" dirty="0" err="1" smtClean="0"/>
              <a:t>hs</a:t>
            </a:r>
            <a:r>
              <a:rPr lang="pt-BR" dirty="0" smtClean="0"/>
              <a:t>;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pt-BR" dirty="0" smtClean="0"/>
              <a:t>O índice de massa corporal ( Peso/Alt</a:t>
            </a:r>
            <a:r>
              <a:rPr lang="pt-BR" baseline="30000" dirty="0" smtClean="0"/>
              <a:t>2</a:t>
            </a:r>
            <a:r>
              <a:rPr lang="pt-BR" dirty="0" smtClean="0"/>
              <a:t>) avalia o nível de gordura de cada pessoa e é adotado pela Organização Mundial de Saúde (OMS). O IMC de uma pessoa é dado pela divisão da massa em kg pela altura em metros elevado ao quadrado. Elabore um algoritmo que, a partir da massa e da altura informados pelo usuário, calcule e apresente seu IMC e sua classificação conforme a tabela seguinte:</a:t>
            </a:r>
          </a:p>
          <a:p>
            <a:pPr lvl="1" algn="just"/>
            <a:r>
              <a:rPr lang="pt-BR" dirty="0" smtClean="0"/>
              <a:t>&lt; 18 Magreza </a:t>
            </a:r>
          </a:p>
          <a:p>
            <a:pPr lvl="1" algn="just"/>
            <a:r>
              <a:rPr lang="pt-BR" dirty="0" smtClean="0"/>
              <a:t>18,0 a 24,9 Saudável </a:t>
            </a:r>
          </a:p>
          <a:p>
            <a:pPr lvl="1" algn="just"/>
            <a:r>
              <a:rPr lang="pt-BR" dirty="0" smtClean="0"/>
              <a:t>25,0 a 29,9 Sobrepeso</a:t>
            </a:r>
          </a:p>
          <a:p>
            <a:pPr lvl="1" algn="just"/>
            <a:r>
              <a:rPr lang="pt-BR" dirty="0" smtClean="0"/>
              <a:t> &gt;= 30,0 Obesidade</a:t>
            </a:r>
          </a:p>
          <a:p>
            <a:pPr marL="514350" lvl="0" indent="-514350" algn="just">
              <a:buFont typeface="+mj-lt"/>
              <a:buAutoNum type="arabicPeriod" startAt="3"/>
            </a:pPr>
            <a:r>
              <a:rPr lang="pt-BR" dirty="0" smtClean="0"/>
              <a:t>Escrever um programa para apresentar o nome do lanche do </a:t>
            </a:r>
            <a:r>
              <a:rPr lang="pt-BR" dirty="0" err="1" smtClean="0"/>
              <a:t>MacDonalds</a:t>
            </a:r>
            <a:r>
              <a:rPr lang="pt-BR" dirty="0" smtClean="0"/>
              <a:t> conforme o nº da opção digitada pelo cliente (usuário): </a:t>
            </a:r>
          </a:p>
          <a:p>
            <a:pPr lvl="1" algn="just"/>
            <a:r>
              <a:rPr lang="pt-BR" dirty="0" smtClean="0"/>
              <a:t>1. </a:t>
            </a:r>
            <a:r>
              <a:rPr lang="pt-BR" dirty="0" err="1" smtClean="0"/>
              <a:t>BigMac</a:t>
            </a:r>
            <a:r>
              <a:rPr lang="pt-BR" dirty="0" smtClean="0"/>
              <a:t> </a:t>
            </a:r>
          </a:p>
          <a:p>
            <a:pPr lvl="1" algn="just"/>
            <a:r>
              <a:rPr lang="pt-BR" dirty="0" smtClean="0"/>
              <a:t>2. Quarteirão </a:t>
            </a:r>
          </a:p>
          <a:p>
            <a:pPr lvl="1" algn="just"/>
            <a:r>
              <a:rPr lang="pt-BR" dirty="0" smtClean="0"/>
              <a:t>3. </a:t>
            </a:r>
            <a:r>
              <a:rPr lang="pt-BR" dirty="0" err="1" smtClean="0"/>
              <a:t>MacChicken</a:t>
            </a:r>
            <a:r>
              <a:rPr lang="pt-BR" dirty="0" smtClean="0"/>
              <a:t> </a:t>
            </a:r>
          </a:p>
          <a:p>
            <a:pPr lvl="1" algn="just"/>
            <a:r>
              <a:rPr lang="pt-BR" dirty="0" smtClean="0"/>
              <a:t>4. Cheddar </a:t>
            </a:r>
            <a:r>
              <a:rPr lang="pt-BR" dirty="0" err="1" smtClean="0"/>
              <a:t>MacMelt</a:t>
            </a:r>
            <a:r>
              <a:rPr lang="pt-BR" dirty="0" smtClean="0"/>
              <a:t> </a:t>
            </a:r>
          </a:p>
          <a:p>
            <a:pPr lvl="1" algn="just"/>
            <a:r>
              <a:rPr lang="pt-BR" dirty="0" smtClean="0"/>
              <a:t>5. </a:t>
            </a:r>
            <a:r>
              <a:rPr lang="pt-BR" dirty="0" err="1" smtClean="0"/>
              <a:t>MacMax</a:t>
            </a:r>
            <a:r>
              <a:rPr lang="pt-BR" dirty="0" smtClean="0"/>
              <a:t> </a:t>
            </a:r>
          </a:p>
          <a:p>
            <a:pPr algn="just">
              <a:buNone/>
            </a:pPr>
            <a:r>
              <a:rPr lang="pt-BR" dirty="0" smtClean="0"/>
              <a:t>	O programa deverá apresentar ao usuário o menu de opções disponíveis e deverá informar caso seja digitada uma opção inválida.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85720" y="285728"/>
            <a:ext cx="8572560" cy="6429420"/>
          </a:xfrm>
        </p:spPr>
        <p:txBody>
          <a:bodyPr>
            <a:normAutofit/>
          </a:bodyPr>
          <a:lstStyle/>
          <a:p>
            <a:pPr marL="514350" lvl="0" indent="-514350" algn="just">
              <a:buFont typeface="+mj-lt"/>
              <a:buAutoNum type="arabicPeriod" startAt="4"/>
            </a:pPr>
            <a:r>
              <a:rPr lang="pt-BR" sz="1800" dirty="0" smtClean="0"/>
              <a:t>Crie um algoritmo que receba um número entre 1 e 12 e apresente o mês correspondente:</a:t>
            </a:r>
          </a:p>
          <a:p>
            <a:pPr marL="514350" lvl="0" indent="-514350" algn="just">
              <a:buFont typeface="+mj-lt"/>
              <a:buAutoNum type="arabicPeriod" startAt="4"/>
            </a:pPr>
            <a:r>
              <a:rPr lang="pt-BR" sz="1800" dirty="0" smtClean="0"/>
              <a:t>Crie um algoritmo que receba 4 notas do aluno e verifique se o mesmo foi aprovado ou reprovado com um dos seguintes conceitos:</a:t>
            </a:r>
          </a:p>
          <a:p>
            <a:pPr marL="514350" lvl="0" indent="-514350" algn="just">
              <a:buNone/>
            </a:pPr>
            <a:r>
              <a:rPr lang="pt-BR" sz="1800" b="1" dirty="0" smtClean="0"/>
              <a:t>               Aprovado		 	Reprovado</a:t>
            </a:r>
          </a:p>
          <a:p>
            <a:pPr marL="880110" lvl="1" indent="-514350" algn="just">
              <a:buNone/>
            </a:pPr>
            <a:r>
              <a:rPr lang="pt-BR" sz="1600" b="1" dirty="0" smtClean="0"/>
              <a:t>A</a:t>
            </a:r>
            <a:r>
              <a:rPr lang="pt-BR" sz="1600" dirty="0" smtClean="0"/>
              <a:t> - maior igual à 9          </a:t>
            </a:r>
            <a:r>
              <a:rPr lang="pt-BR" sz="1600" b="1" dirty="0" smtClean="0"/>
              <a:t>                         D </a:t>
            </a:r>
            <a:r>
              <a:rPr lang="pt-BR" sz="1600" dirty="0" smtClean="0"/>
              <a:t>– maior igual à 2,5 e menor que 5  </a:t>
            </a:r>
          </a:p>
          <a:p>
            <a:pPr marL="880110" lvl="1" indent="-514350" algn="just">
              <a:buNone/>
            </a:pPr>
            <a:r>
              <a:rPr lang="pt-BR" sz="1600" b="1" dirty="0" smtClean="0"/>
              <a:t>B </a:t>
            </a:r>
            <a:r>
              <a:rPr lang="pt-BR" sz="1600" dirty="0" smtClean="0"/>
              <a:t>– maior igual à 7 e menor que 9         </a:t>
            </a:r>
            <a:r>
              <a:rPr lang="pt-BR" sz="1600" b="1" dirty="0" smtClean="0"/>
              <a:t>E</a:t>
            </a:r>
            <a:r>
              <a:rPr lang="pt-BR" sz="1600" dirty="0" smtClean="0"/>
              <a:t> – menor que 2,5 </a:t>
            </a:r>
          </a:p>
          <a:p>
            <a:pPr marL="880110" lvl="1" indent="-514350" algn="just">
              <a:buNone/>
            </a:pPr>
            <a:r>
              <a:rPr lang="pt-BR" sz="1600" b="1" dirty="0" smtClean="0"/>
              <a:t>C </a:t>
            </a:r>
            <a:r>
              <a:rPr lang="pt-BR" sz="1600" dirty="0" smtClean="0"/>
              <a:t>– maior igual à 5 e menor que 7         </a:t>
            </a:r>
          </a:p>
          <a:p>
            <a:pPr marL="514350" lvl="0" indent="-514350" algn="just">
              <a:buFont typeface="+mj-lt"/>
              <a:buAutoNum type="arabicPeriod" startAt="6"/>
            </a:pPr>
            <a:r>
              <a:rPr lang="pt-BR" sz="1800" dirty="0" smtClean="0"/>
              <a:t>Crie um  programa que classifique os nadadores nas categorias de acordo com sua idade:</a:t>
            </a:r>
          </a:p>
          <a:p>
            <a:pPr marL="822960" lvl="3" indent="-274320">
              <a:buSzPct val="95000"/>
            </a:pPr>
            <a:r>
              <a:rPr lang="pt-BR" sz="1600" dirty="0" smtClean="0"/>
              <a:t>Infantil A – de 5 à 7 anos;</a:t>
            </a:r>
          </a:p>
          <a:p>
            <a:pPr marL="822960" lvl="3" indent="-274320">
              <a:buSzPct val="95000"/>
            </a:pPr>
            <a:r>
              <a:rPr lang="pt-BR" sz="1600" dirty="0" smtClean="0"/>
              <a:t>Infantil B – de 8 à 10 anos; </a:t>
            </a:r>
          </a:p>
          <a:p>
            <a:pPr marL="822960" lvl="3" indent="-274320">
              <a:buSzPct val="95000"/>
            </a:pPr>
            <a:r>
              <a:rPr lang="pt-BR" sz="1600" dirty="0" smtClean="0"/>
              <a:t>Juvenil A – de 11 à  13 anos;</a:t>
            </a:r>
          </a:p>
          <a:p>
            <a:pPr marL="822960" lvl="3" indent="-274320">
              <a:buSzPct val="95000"/>
            </a:pPr>
            <a:r>
              <a:rPr lang="pt-BR" sz="1600" dirty="0" smtClean="0"/>
              <a:t>Juvenil B  - de 14 à 17 anos;</a:t>
            </a:r>
          </a:p>
          <a:p>
            <a:pPr marL="822960" lvl="3" indent="-274320">
              <a:buSzPct val="95000"/>
            </a:pPr>
            <a:r>
              <a:rPr lang="pt-BR" sz="1600" dirty="0" err="1" smtClean="0"/>
              <a:t>Senior</a:t>
            </a:r>
            <a:r>
              <a:rPr lang="pt-BR" sz="1600" dirty="0" smtClean="0"/>
              <a:t> – a partir de 18 anos.</a:t>
            </a:r>
          </a:p>
          <a:p>
            <a:pPr marL="514350" lvl="0" indent="-514350" algn="just">
              <a:buFont typeface="+mj-lt"/>
              <a:buAutoNum type="arabicPeriod" startAt="7"/>
            </a:pPr>
            <a:r>
              <a:rPr lang="pt-BR" sz="1800" dirty="0" smtClean="0"/>
              <a:t>Crie um programa que receba duas dadas: Dia1/Mês1/Ano1 e Dia2/Mês2/Ano2 , efetue a comparação e apresente-as em ordem crescente.</a:t>
            </a:r>
          </a:p>
          <a:p>
            <a:pPr marL="514350" lvl="0" indent="-514350" algn="just">
              <a:buFont typeface="+mj-lt"/>
              <a:buAutoNum type="arabicPeriod" startAt="7"/>
            </a:pPr>
            <a:r>
              <a:rPr lang="pt-BR" sz="1800" dirty="0" smtClean="0"/>
              <a:t>Crie um programa que receba 3 valores A, B e C. Supondo que cada valor seja um dos lados de um triângulo, verifique e informe se estes lados compõem </a:t>
            </a:r>
            <a:r>
              <a:rPr lang="pt-BR" sz="1800" smtClean="0"/>
              <a:t>um triângulo equilátero</a:t>
            </a:r>
            <a:r>
              <a:rPr lang="pt-BR" sz="1800" dirty="0" smtClean="0"/>
              <a:t>, isósceles ou escaleno, informar se não compõem um triângulo.</a:t>
            </a:r>
            <a:endParaRPr lang="pt-BR" sz="1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438</TotalTime>
  <Words>445</Words>
  <Application>Microsoft Office PowerPoint</Application>
  <PresentationFormat>Apresentação na tela (4:3)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Constantia</vt:lpstr>
      <vt:lpstr>Wingdings 2</vt:lpstr>
      <vt:lpstr>Fluxo</vt:lpstr>
      <vt:lpstr>Estrutura de Decisão Encadeada</vt:lpstr>
      <vt:lpstr>Estrutura de Decisão Encadeada</vt:lpstr>
      <vt:lpstr>Decisão Encadeada Homogênea</vt:lpstr>
      <vt:lpstr>Decisão Encadeada Homogênea</vt:lpstr>
      <vt:lpstr>Decisão Encadeada Heterogênea</vt:lpstr>
      <vt:lpstr>Decisão Encadeada Múltipla-escolha</vt:lpstr>
      <vt:lpstr>Algoritmo</vt:lpstr>
      <vt:lpstr>Apresentação do PowerPoint</vt:lpstr>
      <vt:lpstr>Exercícios</vt:lpstr>
      <vt:lpstr>Apresentação do PowerPoint</vt:lpstr>
    </vt:vector>
  </TitlesOfParts>
  <Company>Centro Tecnológico da Zona Leste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de Decisão Encadeada</dc:title>
  <dc:creator>DTI</dc:creator>
  <cp:lastModifiedBy>Aluno</cp:lastModifiedBy>
  <cp:revision>63</cp:revision>
  <dcterms:created xsi:type="dcterms:W3CDTF">2010-09-29T13:23:24Z</dcterms:created>
  <dcterms:modified xsi:type="dcterms:W3CDTF">2018-12-13T11:01:33Z</dcterms:modified>
</cp:coreProperties>
</file>